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8" r:id="rId2"/>
    <p:sldId id="257" r:id="rId3"/>
    <p:sldId id="279" r:id="rId4"/>
    <p:sldId id="295" r:id="rId5"/>
    <p:sldId id="289" r:id="rId6"/>
    <p:sldId id="291" r:id="rId7"/>
    <p:sldId id="292" r:id="rId8"/>
    <p:sldId id="299" r:id="rId9"/>
    <p:sldId id="293" r:id="rId10"/>
    <p:sldId id="300" r:id="rId11"/>
    <p:sldId id="276" r:id="rId12"/>
    <p:sldId id="297" r:id="rId13"/>
    <p:sldId id="260" r:id="rId14"/>
    <p:sldId id="261" r:id="rId15"/>
    <p:sldId id="262" r:id="rId16"/>
    <p:sldId id="263" r:id="rId17"/>
    <p:sldId id="264" r:id="rId18"/>
    <p:sldId id="294" r:id="rId19"/>
    <p:sldId id="298" r:id="rId20"/>
    <p:sldId id="301" r:id="rId21"/>
    <p:sldId id="302" r:id="rId22"/>
    <p:sldId id="280" r:id="rId23"/>
    <p:sldId id="305"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A39B7-D3C8-4637-811A-0479DB9182F6}" v="6" dt="2026-09-30T04:55:35.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35" autoAdjust="0"/>
    <p:restoredTop sz="94610"/>
  </p:normalViewPr>
  <p:slideViewPr>
    <p:cSldViewPr snapToGrid="0" snapToObjects="1">
      <p:cViewPr>
        <p:scale>
          <a:sx n="125" d="100"/>
          <a:sy n="125" d="100"/>
        </p:scale>
        <p:origin x="298"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vani Pittala" userId="543e82c34aac4d6c" providerId="LiveId" clId="{D5B9625F-C060-486B-AD93-E307389CE6D8}"/>
    <pc:docChg chg="custSel addSld delSld modSld">
      <pc:chgData name="Srivani Pittala" userId="543e82c34aac4d6c" providerId="LiveId" clId="{D5B9625F-C060-486B-AD93-E307389CE6D8}" dt="2026-09-30T05:00:09.730" v="477" actId="1035"/>
      <pc:docMkLst>
        <pc:docMk/>
      </pc:docMkLst>
      <pc:sldChg chg="modSp mod">
        <pc:chgData name="Srivani Pittala" userId="543e82c34aac4d6c" providerId="LiveId" clId="{D5B9625F-C060-486B-AD93-E307389CE6D8}" dt="2026-09-30T05:00:09.730" v="477" actId="1035"/>
        <pc:sldMkLst>
          <pc:docMk/>
          <pc:sldMk cId="0" sldId="263"/>
        </pc:sldMkLst>
        <pc:picChg chg="mod">
          <ac:chgData name="Srivani Pittala" userId="543e82c34aac4d6c" providerId="LiveId" clId="{D5B9625F-C060-486B-AD93-E307389CE6D8}" dt="2026-09-30T05:00:09.730" v="477" actId="1035"/>
          <ac:picMkLst>
            <pc:docMk/>
            <pc:sldMk cId="0" sldId="263"/>
            <ac:picMk id="3" creationId="{C7FA8837-504C-489E-9314-F87D00EE917F}"/>
          </ac:picMkLst>
        </pc:picChg>
      </pc:sldChg>
      <pc:sldChg chg="del">
        <pc:chgData name="Srivani Pittala" userId="543e82c34aac4d6c" providerId="LiveId" clId="{D5B9625F-C060-486B-AD93-E307389CE6D8}" dt="2026-09-30T04:57:48.029" v="458" actId="2696"/>
        <pc:sldMkLst>
          <pc:docMk/>
          <pc:sldMk cId="627031576" sldId="285"/>
        </pc:sldMkLst>
      </pc:sldChg>
      <pc:sldChg chg="modSp mod">
        <pc:chgData name="Srivani Pittala" userId="543e82c34aac4d6c" providerId="LiveId" clId="{D5B9625F-C060-486B-AD93-E307389CE6D8}" dt="2026-09-30T04:59:16.686" v="468" actId="207"/>
        <pc:sldMkLst>
          <pc:docMk/>
          <pc:sldMk cId="859170307" sldId="293"/>
        </pc:sldMkLst>
        <pc:spChg chg="mod">
          <ac:chgData name="Srivani Pittala" userId="543e82c34aac4d6c" providerId="LiveId" clId="{D5B9625F-C060-486B-AD93-E307389CE6D8}" dt="2026-09-30T04:58:37.783" v="460" actId="207"/>
          <ac:spMkLst>
            <pc:docMk/>
            <pc:sldMk cId="859170307" sldId="293"/>
            <ac:spMk id="6" creationId="{08485505-350A-AB62-DF39-0C47BE68B7BD}"/>
          </ac:spMkLst>
        </pc:spChg>
        <pc:spChg chg="mod">
          <ac:chgData name="Srivani Pittala" userId="543e82c34aac4d6c" providerId="LiveId" clId="{D5B9625F-C060-486B-AD93-E307389CE6D8}" dt="2026-09-30T04:59:09.632" v="467" actId="20577"/>
          <ac:spMkLst>
            <pc:docMk/>
            <pc:sldMk cId="859170307" sldId="293"/>
            <ac:spMk id="7" creationId="{774CDA65-922F-6ACB-00A1-A8E4C452359A}"/>
          </ac:spMkLst>
        </pc:spChg>
        <pc:spChg chg="mod">
          <ac:chgData name="Srivani Pittala" userId="543e82c34aac4d6c" providerId="LiveId" clId="{D5B9625F-C060-486B-AD93-E307389CE6D8}" dt="2026-09-30T04:58:47.150" v="462" actId="207"/>
          <ac:spMkLst>
            <pc:docMk/>
            <pc:sldMk cId="859170307" sldId="293"/>
            <ac:spMk id="10" creationId="{A28ED727-C612-C8AD-3B64-EADCB34A20B2}"/>
          </ac:spMkLst>
        </pc:spChg>
        <pc:spChg chg="mod">
          <ac:chgData name="Srivani Pittala" userId="543e82c34aac4d6c" providerId="LiveId" clId="{D5B9625F-C060-486B-AD93-E307389CE6D8}" dt="2026-09-30T04:59:16.686" v="468" actId="207"/>
          <ac:spMkLst>
            <pc:docMk/>
            <pc:sldMk cId="859170307" sldId="293"/>
            <ac:spMk id="13" creationId="{B00BCEE6-7C6F-2345-92D9-1E1EDB267471}"/>
          </ac:spMkLst>
        </pc:spChg>
      </pc:sldChg>
      <pc:sldChg chg="modSp mod">
        <pc:chgData name="Srivani Pittala" userId="543e82c34aac4d6c" providerId="LiveId" clId="{D5B9625F-C060-486B-AD93-E307389CE6D8}" dt="2026-09-30T04:59:31.136" v="470" actId="207"/>
        <pc:sldMkLst>
          <pc:docMk/>
          <pc:sldMk cId="195324930" sldId="300"/>
        </pc:sldMkLst>
        <pc:spChg chg="mod">
          <ac:chgData name="Srivani Pittala" userId="543e82c34aac4d6c" providerId="LiveId" clId="{D5B9625F-C060-486B-AD93-E307389CE6D8}" dt="2026-09-30T04:59:31.136" v="470" actId="207"/>
          <ac:spMkLst>
            <pc:docMk/>
            <pc:sldMk cId="195324930" sldId="300"/>
            <ac:spMk id="4" creationId="{2D27917F-AE02-E0AD-86A8-A7D6207DFEB2}"/>
          </ac:spMkLst>
        </pc:spChg>
        <pc:spChg chg="mod">
          <ac:chgData name="Srivani Pittala" userId="543e82c34aac4d6c" providerId="LiveId" clId="{D5B9625F-C060-486B-AD93-E307389CE6D8}" dt="2026-09-30T04:59:31.136" v="470" actId="207"/>
          <ac:spMkLst>
            <pc:docMk/>
            <pc:sldMk cId="195324930" sldId="300"/>
            <ac:spMk id="7" creationId="{25C4044B-F421-A216-0EB5-AC5D395D096D}"/>
          </ac:spMkLst>
        </pc:spChg>
        <pc:spChg chg="mod">
          <ac:chgData name="Srivani Pittala" userId="543e82c34aac4d6c" providerId="LiveId" clId="{D5B9625F-C060-486B-AD93-E307389CE6D8}" dt="2026-09-30T04:59:31.136" v="470" actId="207"/>
          <ac:spMkLst>
            <pc:docMk/>
            <pc:sldMk cId="195324930" sldId="300"/>
            <ac:spMk id="10" creationId="{8F872E95-4F4F-E93E-D06C-C450F681705B}"/>
          </ac:spMkLst>
        </pc:spChg>
        <pc:spChg chg="mod">
          <ac:chgData name="Srivani Pittala" userId="543e82c34aac4d6c" providerId="LiveId" clId="{D5B9625F-C060-486B-AD93-E307389CE6D8}" dt="2026-09-30T04:59:31.136" v="470" actId="207"/>
          <ac:spMkLst>
            <pc:docMk/>
            <pc:sldMk cId="195324930" sldId="300"/>
            <ac:spMk id="13" creationId="{BEF43395-9E3F-31F2-000D-0D756FA8AE05}"/>
          </ac:spMkLst>
        </pc:spChg>
        <pc:spChg chg="mod">
          <ac:chgData name="Srivani Pittala" userId="543e82c34aac4d6c" providerId="LiveId" clId="{D5B9625F-C060-486B-AD93-E307389CE6D8}" dt="2026-09-30T04:59:31.136" v="470" actId="207"/>
          <ac:spMkLst>
            <pc:docMk/>
            <pc:sldMk cId="195324930" sldId="300"/>
            <ac:spMk id="16" creationId="{85A0E248-6519-3964-6724-9A6A61AFB594}"/>
          </ac:spMkLst>
        </pc:spChg>
        <pc:spChg chg="mod">
          <ac:chgData name="Srivani Pittala" userId="543e82c34aac4d6c" providerId="LiveId" clId="{D5B9625F-C060-486B-AD93-E307389CE6D8}" dt="2026-09-30T04:59:31.136" v="470" actId="207"/>
          <ac:spMkLst>
            <pc:docMk/>
            <pc:sldMk cId="195324930" sldId="300"/>
            <ac:spMk id="19" creationId="{692D609E-683E-E815-DD95-87EECA447533}"/>
          </ac:spMkLst>
        </pc:spChg>
      </pc:sldChg>
      <pc:sldChg chg="addSp delSp modSp new mod">
        <pc:chgData name="Srivani Pittala" userId="543e82c34aac4d6c" providerId="LiveId" clId="{D5B9625F-C060-486B-AD93-E307389CE6D8}" dt="2026-09-30T04:57:41.881" v="457" actId="20577"/>
        <pc:sldMkLst>
          <pc:docMk/>
          <pc:sldMk cId="3449276164" sldId="302"/>
        </pc:sldMkLst>
        <pc:spChg chg="mod">
          <ac:chgData name="Srivani Pittala" userId="543e82c34aac4d6c" providerId="LiveId" clId="{D5B9625F-C060-486B-AD93-E307389CE6D8}" dt="2026-09-30T04:47:56.879" v="106" actId="21"/>
          <ac:spMkLst>
            <pc:docMk/>
            <pc:sldMk cId="3449276164" sldId="302"/>
            <ac:spMk id="2" creationId="{EB766759-4E33-FEAC-BA23-D1B69D3F23BC}"/>
          </ac:spMkLst>
        </pc:spChg>
        <pc:spChg chg="add del mod">
          <ac:chgData name="Srivani Pittala" userId="543e82c34aac4d6c" providerId="LiveId" clId="{D5B9625F-C060-486B-AD93-E307389CE6D8}" dt="2026-09-30T04:51:43.296" v="335"/>
          <ac:spMkLst>
            <pc:docMk/>
            <pc:sldMk cId="3449276164" sldId="302"/>
            <ac:spMk id="3" creationId="{88471F87-6911-1159-380D-2A2370BA382B}"/>
          </ac:spMkLst>
        </pc:spChg>
        <pc:spChg chg="add mod">
          <ac:chgData name="Srivani Pittala" userId="543e82c34aac4d6c" providerId="LiveId" clId="{D5B9625F-C060-486B-AD93-E307389CE6D8}" dt="2026-09-30T04:51:41.262" v="333" actId="14100"/>
          <ac:spMkLst>
            <pc:docMk/>
            <pc:sldMk cId="3449276164" sldId="302"/>
            <ac:spMk id="5" creationId="{F877493C-F62D-50DF-D888-E217B5C18029}"/>
          </ac:spMkLst>
        </pc:spChg>
        <pc:spChg chg="add del mod">
          <ac:chgData name="Srivani Pittala" userId="543e82c34aac4d6c" providerId="LiveId" clId="{D5B9625F-C060-486B-AD93-E307389CE6D8}" dt="2026-09-30T04:49:46.817" v="199"/>
          <ac:spMkLst>
            <pc:docMk/>
            <pc:sldMk cId="3449276164" sldId="302"/>
            <ac:spMk id="6" creationId="{D56E30A7-8D53-340F-5D4D-C649B9DB42CF}"/>
          </ac:spMkLst>
        </pc:spChg>
        <pc:spChg chg="add mod">
          <ac:chgData name="Srivani Pittala" userId="543e82c34aac4d6c" providerId="LiveId" clId="{D5B9625F-C060-486B-AD93-E307389CE6D8}" dt="2026-09-30T04:57:06.986" v="445" actId="1076"/>
          <ac:spMkLst>
            <pc:docMk/>
            <pc:sldMk cId="3449276164" sldId="302"/>
            <ac:spMk id="7" creationId="{5AB3AF80-6D67-1EEC-20AC-22F382AE1968}"/>
          </ac:spMkLst>
        </pc:spChg>
        <pc:spChg chg="add mod">
          <ac:chgData name="Srivani Pittala" userId="543e82c34aac4d6c" providerId="LiveId" clId="{D5B9625F-C060-486B-AD93-E307389CE6D8}" dt="2026-09-30T04:57:41.881" v="457" actId="20577"/>
          <ac:spMkLst>
            <pc:docMk/>
            <pc:sldMk cId="3449276164" sldId="302"/>
            <ac:spMk id="8" creationId="{4F0A26F0-E7F8-6A77-8AF3-2BE20D7DC9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6705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IN" smtClean="0"/>
              <a:pPr/>
              <a:t>‹#›</a:t>
            </a:fld>
            <a:endParaRPr lang="en-IN"/>
          </a:p>
        </p:txBody>
      </p:sp>
      <p:pic>
        <p:nvPicPr>
          <p:cNvPr id="20" name="Google Shape;20;p7"/>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extLst>
      <p:ext uri="{BB962C8B-B14F-4D97-AF65-F5344CB8AC3E}">
        <p14:creationId xmlns:p14="http://schemas.microsoft.com/office/powerpoint/2010/main" val="2324986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IN" smtClean="0"/>
              <a:pPr/>
              <a:t>‹#›</a:t>
            </a:fld>
            <a:endParaRPr lang="en-IN"/>
          </a:p>
        </p:txBody>
      </p:sp>
      <p:pic>
        <p:nvPicPr>
          <p:cNvPr id="25" name="Google Shape;25;p9"/>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extLst>
      <p:ext uri="{BB962C8B-B14F-4D97-AF65-F5344CB8AC3E}">
        <p14:creationId xmlns:p14="http://schemas.microsoft.com/office/powerpoint/2010/main" val="752545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cSld name="1_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10674" y="4638738"/>
            <a:ext cx="2419047" cy="466667"/>
          </a:xfrm>
          <a:prstGeom prst="rect">
            <a:avLst/>
          </a:prstGeom>
        </p:spPr>
      </p:pic>
      <p:pic>
        <p:nvPicPr>
          <p:cNvPr id="17" name="bg object 17"/>
          <p:cNvPicPr/>
          <p:nvPr/>
        </p:nvPicPr>
        <p:blipFill>
          <a:blip r:embed="rId3" cstate="print"/>
          <a:stretch>
            <a:fillRect/>
          </a:stretch>
        </p:blipFill>
        <p:spPr>
          <a:xfrm>
            <a:off x="4849888" y="1388062"/>
            <a:ext cx="3349232" cy="2125737"/>
          </a:xfrm>
          <a:prstGeom prst="rect">
            <a:avLst/>
          </a:prstGeom>
        </p:spPr>
      </p:pic>
      <p:sp>
        <p:nvSpPr>
          <p:cNvPr id="2" name="Holder 2"/>
          <p:cNvSpPr>
            <a:spLocks noGrp="1"/>
          </p:cNvSpPr>
          <p:nvPr>
            <p:ph type="title"/>
          </p:nvPr>
        </p:nvSpPr>
        <p:spPr/>
        <p:txBody>
          <a:bodyPr lIns="0" tIns="0" rIns="0" bIns="0"/>
          <a:lstStyle>
            <a:lvl1pPr>
              <a:defRPr sz="3300" b="0" i="0">
                <a:solidFill>
                  <a:srgbClr val="C00000"/>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96089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murali-krishna-213ba3301"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linkedin.com/in/pittala-srivani-a839812a8?utm_source=share_via&amp;utm_content=profile&amp;utm_medium=member_ios"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49236" y="14068"/>
            <a:ext cx="9241140" cy="5143500"/>
          </a:xfrm>
          <a:prstGeom prst="rect">
            <a:avLst/>
          </a:prstGeom>
          <a:noFill/>
          <a:ln>
            <a:noFill/>
          </a:ln>
        </p:spPr>
      </p:pic>
      <p:sp>
        <p:nvSpPr>
          <p:cNvPr id="99" name="Google Shape;99;p1"/>
          <p:cNvSpPr txBox="1"/>
          <p:nvPr/>
        </p:nvSpPr>
        <p:spPr>
          <a:xfrm>
            <a:off x="48792" y="2934579"/>
            <a:ext cx="9045526" cy="561662"/>
          </a:xfrm>
          <a:prstGeom prst="rect">
            <a:avLst/>
          </a:prstGeom>
          <a:noFill/>
          <a:ln>
            <a:noFill/>
          </a:ln>
        </p:spPr>
        <p:txBody>
          <a:bodyPr spcFirstLastPara="1" wrap="square" lIns="68569" tIns="34275" rIns="68569" bIns="34275" anchor="t" anchorCtr="0">
            <a:spAutoFit/>
          </a:bodyPr>
          <a:lstStyle/>
          <a:p>
            <a:pPr algn="ctr"/>
            <a:r>
              <a:rPr lang="en-US" sz="3200" b="1" dirty="0">
                <a:solidFill>
                  <a:srgbClr val="0070C0"/>
                </a:solidFill>
                <a:latin typeface="Times New Roman" panose="02020603050405020304" pitchFamily="18" charset="0"/>
                <a:ea typeface="Cambria" pitchFamily="34" charset="-122"/>
                <a:cs typeface="Times New Roman" panose="02020603050405020304" pitchFamily="18" charset="0"/>
              </a:rPr>
              <a:t>Music Store Data Analysis</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1234114-B2D4-9325-BB14-19D66EA38888}"/>
              </a:ext>
            </a:extLst>
          </p:cNvPr>
          <p:cNvSpPr txBox="1"/>
          <p:nvPr/>
        </p:nvSpPr>
        <p:spPr>
          <a:xfrm>
            <a:off x="6506308" y="3917852"/>
            <a:ext cx="2300068" cy="923330"/>
          </a:xfrm>
          <a:prstGeom prst="rect">
            <a:avLst/>
          </a:prstGeom>
          <a:noFill/>
        </p:spPr>
        <p:txBody>
          <a:bodyPr wrap="square" rtlCol="0">
            <a:spAutoFit/>
          </a:bodyPr>
          <a:lstStyle/>
          <a:p>
            <a:r>
              <a:rPr lang="en-IN" dirty="0"/>
              <a:t>P. Murali Krishna</a:t>
            </a:r>
          </a:p>
          <a:p>
            <a:r>
              <a:rPr lang="en-IN" dirty="0"/>
              <a:t>P. Srivani</a:t>
            </a:r>
          </a:p>
          <a:p>
            <a:r>
              <a:rPr lang="en-IN" dirty="0"/>
              <a:t>Batch no :546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880533" y="1342317"/>
            <a:ext cx="8034867" cy="3670205"/>
          </a:xfrm>
          <a:prstGeom prst="rect">
            <a:avLst/>
          </a:prstGeom>
          <a:noFill/>
          <a:ln>
            <a:noFill/>
          </a:ln>
        </p:spPr>
        <p:txBody>
          <a:bodyPr spcFirstLastPara="1" wrap="square" lIns="68569" tIns="34275" rIns="68569" bIns="34275" anchor="t" anchorCtr="0">
            <a:spAutoFit/>
          </a:bodyPr>
          <a:lstStyle/>
          <a:p>
            <a:pPr marL="257175" indent="-257175">
              <a:lnSpc>
                <a:spcPct val="150000"/>
              </a:lnSpc>
              <a:buFont typeface="Arial" panose="020B0604020202020204" pitchFamily="34" charset="0"/>
              <a:buChar char="•"/>
            </a:pPr>
            <a:r>
              <a:rPr lang="en-IN" sz="1500" dirty="0"/>
              <a:t> </a:t>
            </a:r>
            <a:r>
              <a:rPr lang="en-IN" sz="1500" b="1" dirty="0"/>
              <a:t>Name:</a:t>
            </a:r>
            <a:r>
              <a:rPr lang="en-IN" sz="1500" dirty="0"/>
              <a:t> Murali Krishna</a:t>
            </a:r>
          </a:p>
          <a:p>
            <a:pPr marL="257175" indent="-257175">
              <a:lnSpc>
                <a:spcPct val="150000"/>
              </a:lnSpc>
              <a:buFont typeface="Arial" panose="020B0604020202020204" pitchFamily="34" charset="0"/>
              <a:buChar char="•"/>
            </a:pPr>
            <a:r>
              <a:rPr lang="en-IN" sz="1500" b="1" dirty="0"/>
              <a:t>Qualification</a:t>
            </a:r>
            <a:r>
              <a:rPr lang="en-IN" sz="1500" dirty="0"/>
              <a:t>: B Tech (CSE)</a:t>
            </a:r>
          </a:p>
          <a:p>
            <a:pPr marL="257175" indent="-257175">
              <a:lnSpc>
                <a:spcPct val="150000"/>
              </a:lnSpc>
              <a:buFont typeface="Arial" panose="020B0604020202020204" pitchFamily="34" charset="0"/>
              <a:buChar char="•"/>
            </a:pPr>
            <a:r>
              <a:rPr lang="en-IN" sz="1500" dirty="0"/>
              <a:t> </a:t>
            </a:r>
            <a:r>
              <a:rPr lang="en-IN" sz="1500" b="1" dirty="0"/>
              <a:t>Institution: Guru Nanak Institutions Technical Campus</a:t>
            </a:r>
          </a:p>
          <a:p>
            <a:pPr marL="257175" indent="-257175">
              <a:lnSpc>
                <a:spcPct val="150000"/>
              </a:lnSpc>
              <a:buFont typeface="Arial" panose="020B0604020202020204" pitchFamily="34" charset="0"/>
              <a:buChar char="•"/>
            </a:pPr>
            <a:r>
              <a:rPr lang="en-IN" sz="1500" b="1" dirty="0"/>
              <a:t>Core Interests: </a:t>
            </a:r>
            <a:r>
              <a:rPr lang="en-IN" sz="1500" dirty="0"/>
              <a:t>I am interested in Data Analytics because I enjoy working with data, identifying patterns, solving problems.</a:t>
            </a:r>
          </a:p>
          <a:p>
            <a:pPr marL="257175" indent="-257175">
              <a:lnSpc>
                <a:spcPct val="150000"/>
              </a:lnSpc>
              <a:buFont typeface="Arial" panose="020B0604020202020204" pitchFamily="34" charset="0"/>
              <a:buChar char="•"/>
            </a:pPr>
            <a:r>
              <a:rPr lang="en-IN" sz="1500" dirty="0"/>
              <a:t> </a:t>
            </a:r>
            <a:r>
              <a:rPr lang="en-IN" sz="1500" b="1" dirty="0"/>
              <a:t>Career Objective: </a:t>
            </a:r>
            <a:r>
              <a:rPr lang="en-IN" sz="1500" dirty="0"/>
              <a:t>To build a successful career in Data Analytics by applying my skills in SQL,</a:t>
            </a:r>
          </a:p>
          <a:p>
            <a:pPr>
              <a:lnSpc>
                <a:spcPct val="150000"/>
              </a:lnSpc>
            </a:pPr>
            <a:r>
              <a:rPr lang="en-IN" sz="1500" dirty="0"/>
              <a:t>       Python, Excel, and data visualization to analyse data, solve business problems, and generate  </a:t>
            </a:r>
          </a:p>
          <a:p>
            <a:pPr>
              <a:lnSpc>
                <a:spcPct val="150000"/>
              </a:lnSpc>
            </a:pPr>
            <a:r>
              <a:rPr lang="en-IN" sz="1500" dirty="0"/>
              <a:t>       meaningful insights.</a:t>
            </a:r>
          </a:p>
          <a:p>
            <a:pPr marL="285750" indent="-285750">
              <a:lnSpc>
                <a:spcPct val="150000"/>
              </a:lnSpc>
              <a:buFont typeface="Arial" panose="020B0604020202020204" pitchFamily="34" charset="0"/>
              <a:buChar char="•"/>
            </a:pPr>
            <a:r>
              <a:rPr lang="en-IN" sz="1500" dirty="0"/>
              <a:t>  </a:t>
            </a:r>
            <a:r>
              <a:rPr lang="en-IN" sz="1500" b="1" dirty="0">
                <a:solidFill>
                  <a:schemeClr val="dk1"/>
                </a:solidFill>
                <a:latin typeface="Calibri"/>
                <a:ea typeface="Calibri"/>
                <a:cs typeface="Calibri"/>
                <a:sym typeface="Calibri"/>
              </a:rPr>
              <a:t>LinkedIn:    </a:t>
            </a:r>
            <a:r>
              <a:rPr lang="en-IN" sz="1500" b="1" dirty="0">
                <a:solidFill>
                  <a:schemeClr val="dk1"/>
                </a:solidFill>
                <a:ea typeface="Calibri"/>
                <a:cs typeface="Calibri"/>
                <a:sym typeface="Calibri"/>
                <a:hlinkClick r:id="rId3"/>
              </a:rPr>
              <a:t>https://www.linkedin.com/in/murali-krishna-213ba3301</a:t>
            </a:r>
            <a:br>
              <a:rPr lang="en-IN" dirty="0"/>
            </a:br>
            <a:endParaRPr b="1" dirty="0">
              <a:solidFill>
                <a:schemeClr val="dk1"/>
              </a:solidFill>
              <a:latin typeface="Calibri"/>
              <a:ea typeface="Calibri"/>
              <a:cs typeface="Calibri"/>
              <a:sym typeface="Calibri"/>
            </a:endParaRPr>
          </a:p>
        </p:txBody>
      </p:sp>
      <p:sp>
        <p:nvSpPr>
          <p:cNvPr id="105" name="Google Shape;105;p3"/>
          <p:cNvSpPr txBox="1"/>
          <p:nvPr/>
        </p:nvSpPr>
        <p:spPr>
          <a:xfrm>
            <a:off x="320742" y="312416"/>
            <a:ext cx="4574700" cy="955616"/>
          </a:xfrm>
          <a:prstGeom prst="rect">
            <a:avLst/>
          </a:prstGeom>
          <a:noFill/>
          <a:ln>
            <a:noFill/>
          </a:ln>
        </p:spPr>
        <p:txBody>
          <a:bodyPr spcFirstLastPara="1" wrap="square" lIns="68569" tIns="34275" rIns="68569" bIns="34275" anchor="t" anchorCtr="0">
            <a:spAutoFit/>
          </a:bodyPr>
          <a:lstStyle/>
          <a:p>
            <a:pPr>
              <a:lnSpc>
                <a:spcPct val="80000"/>
              </a:lnSpc>
              <a:buClr>
                <a:srgbClr val="FF0000"/>
              </a:buClr>
              <a:buSzPts val="3200"/>
            </a:pPr>
            <a:r>
              <a:rPr lang="en-IN" sz="2400" dirty="0">
                <a:solidFill>
                  <a:srgbClr val="FF0000"/>
                </a:solidFill>
                <a:latin typeface="Lato Black"/>
                <a:ea typeface="Lato Black"/>
                <a:cs typeface="Lato Black"/>
                <a:sym typeface="Lato Black"/>
              </a:rPr>
              <a:t>About Team:</a:t>
            </a:r>
          </a:p>
          <a:p>
            <a:pPr>
              <a:lnSpc>
                <a:spcPct val="80000"/>
              </a:lnSpc>
              <a:buClr>
                <a:srgbClr val="FF0000"/>
              </a:buClr>
              <a:buSzPts val="3200"/>
            </a:pPr>
            <a:endParaRPr lang="en-IN" sz="2400" dirty="0">
              <a:solidFill>
                <a:srgbClr val="FF0000"/>
              </a:solidFill>
              <a:latin typeface="Lato Black"/>
              <a:ea typeface="Lato Black"/>
              <a:cs typeface="Lato Black"/>
              <a:sym typeface="Lato Black"/>
            </a:endParaRPr>
          </a:p>
          <a:p>
            <a:pPr marL="342900" indent="-342900">
              <a:lnSpc>
                <a:spcPct val="80000"/>
              </a:lnSpc>
              <a:buClr>
                <a:srgbClr val="FF0000"/>
              </a:buClr>
              <a:buSzPts val="3200"/>
              <a:buFont typeface="Wingdings" panose="05000000000000000000" pitchFamily="2" charset="2"/>
              <a:buChar char="Ø"/>
            </a:pPr>
            <a:r>
              <a:rPr lang="en-IN" sz="2400" dirty="0">
                <a:solidFill>
                  <a:srgbClr val="FF0000"/>
                </a:solidFill>
                <a:latin typeface="Lato Black"/>
                <a:ea typeface="Lato Black"/>
                <a:cs typeface="Lato Black"/>
                <a:sym typeface="Lato Black"/>
              </a:rPr>
              <a:t> Team leader:</a:t>
            </a:r>
            <a:endParaRPr sz="1350"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3E705C-2EDE-C060-2369-090C726FA175}"/>
              </a:ext>
            </a:extLst>
          </p:cNvPr>
          <p:cNvSpPr txBox="1"/>
          <p:nvPr/>
        </p:nvSpPr>
        <p:spPr>
          <a:xfrm>
            <a:off x="339755" y="427838"/>
            <a:ext cx="6516673" cy="313932"/>
          </a:xfrm>
          <a:prstGeom prst="rect">
            <a:avLst/>
          </a:prstGeom>
          <a:noFill/>
        </p:spPr>
        <p:txBody>
          <a:bodyPr wrap="square">
            <a:spAutoFit/>
          </a:bodyPr>
          <a:lstStyle/>
          <a:p>
            <a:pPr marL="342900" indent="-342900">
              <a:lnSpc>
                <a:spcPct val="80000"/>
              </a:lnSpc>
              <a:buClr>
                <a:srgbClr val="FF0000"/>
              </a:buClr>
              <a:buSzPts val="3200"/>
              <a:buFont typeface="Wingdings" panose="05000000000000000000" pitchFamily="2" charset="2"/>
              <a:buChar char="Ø"/>
            </a:pPr>
            <a:r>
              <a:rPr lang="en-IN" sz="1050" dirty="0">
                <a:solidFill>
                  <a:srgbClr val="FF0000"/>
                </a:solidFill>
                <a:latin typeface="Lato Black"/>
                <a:ea typeface="Lato Black"/>
                <a:cs typeface="Lato Black"/>
                <a:sym typeface="Lato Black"/>
              </a:rPr>
              <a:t> </a:t>
            </a:r>
            <a:r>
              <a:rPr lang="en-IN" dirty="0">
                <a:solidFill>
                  <a:srgbClr val="FF0000"/>
                </a:solidFill>
                <a:latin typeface="Lato Black"/>
                <a:ea typeface="Lato Black"/>
                <a:cs typeface="Lato Black"/>
                <a:sym typeface="Lato Black"/>
              </a:rPr>
              <a:t>Team Members</a:t>
            </a:r>
            <a:r>
              <a:rPr lang="en-IN" sz="1050" dirty="0">
                <a:solidFill>
                  <a:srgbClr val="FF0000"/>
                </a:solidFill>
                <a:latin typeface="Lato Black"/>
                <a:ea typeface="Lato Black"/>
                <a:cs typeface="Lato Black"/>
                <a:sym typeface="Lato Black"/>
              </a:rPr>
              <a:t>:</a:t>
            </a:r>
            <a:endParaRPr lang="en-IN" sz="750" dirty="0">
              <a:solidFill>
                <a:srgbClr val="FF0000"/>
              </a:solidFill>
              <a:latin typeface="Calibri"/>
              <a:ea typeface="Calibri"/>
              <a:cs typeface="Calibri"/>
              <a:sym typeface="Calibri"/>
            </a:endParaRPr>
          </a:p>
        </p:txBody>
      </p:sp>
      <p:sp>
        <p:nvSpPr>
          <p:cNvPr id="5" name="TextBox 4">
            <a:extLst>
              <a:ext uri="{FF2B5EF4-FFF2-40B4-BE49-F238E27FC236}">
                <a16:creationId xmlns:a16="http://schemas.microsoft.com/office/drawing/2014/main" id="{8F341705-0143-A239-26BF-95E47F070D54}"/>
              </a:ext>
            </a:extLst>
          </p:cNvPr>
          <p:cNvSpPr txBox="1"/>
          <p:nvPr/>
        </p:nvSpPr>
        <p:spPr>
          <a:xfrm>
            <a:off x="844062" y="900846"/>
            <a:ext cx="7737231" cy="3581109"/>
          </a:xfrm>
          <a:prstGeom prst="rect">
            <a:avLst/>
          </a:prstGeom>
          <a:noFill/>
        </p:spPr>
        <p:txBody>
          <a:bodyPr wrap="square">
            <a:spAutoFit/>
          </a:bodyPr>
          <a:lstStyle/>
          <a:p>
            <a:pPr marL="257175" indent="-257175">
              <a:lnSpc>
                <a:spcPct val="150000"/>
              </a:lnSpc>
              <a:buFont typeface="Arial" panose="020B0604020202020204" pitchFamily="34" charset="0"/>
              <a:buChar char="•"/>
            </a:pPr>
            <a:r>
              <a:rPr lang="en-US" sz="1500" b="1" dirty="0"/>
              <a:t>Name:</a:t>
            </a:r>
            <a:r>
              <a:rPr lang="en-US" sz="1500" dirty="0"/>
              <a:t> Srivani</a:t>
            </a:r>
          </a:p>
          <a:p>
            <a:pPr marL="257175" indent="-257175">
              <a:lnSpc>
                <a:spcPct val="150000"/>
              </a:lnSpc>
              <a:buFont typeface="Arial" panose="020B0604020202020204" pitchFamily="34" charset="0"/>
              <a:buChar char="•"/>
            </a:pPr>
            <a:r>
              <a:rPr lang="en-US" sz="1500" b="1" dirty="0"/>
              <a:t>Qualification</a:t>
            </a:r>
            <a:r>
              <a:rPr lang="en-US" sz="1500" dirty="0"/>
              <a:t>: B Tech (CSE)</a:t>
            </a:r>
          </a:p>
          <a:p>
            <a:pPr marL="257175" indent="-257175">
              <a:lnSpc>
                <a:spcPct val="150000"/>
              </a:lnSpc>
              <a:buFont typeface="Arial" panose="020B0604020202020204" pitchFamily="34" charset="0"/>
              <a:buChar char="•"/>
            </a:pPr>
            <a:r>
              <a:rPr lang="en-US" sz="1500" dirty="0"/>
              <a:t> </a:t>
            </a:r>
            <a:r>
              <a:rPr lang="en-US" sz="1500" b="1" dirty="0"/>
              <a:t>Institution: Guru Nanak Institutions Technical Campus</a:t>
            </a:r>
          </a:p>
          <a:p>
            <a:pPr marL="257175" indent="-257175">
              <a:lnSpc>
                <a:spcPct val="150000"/>
              </a:lnSpc>
              <a:buFont typeface="Arial" panose="020B0604020202020204" pitchFamily="34" charset="0"/>
              <a:buChar char="•"/>
            </a:pPr>
            <a:r>
              <a:rPr lang="en-US" sz="1500" b="1" dirty="0"/>
              <a:t>Core Interests: </a:t>
            </a:r>
            <a:r>
              <a:rPr lang="en-US" sz="1500" dirty="0"/>
              <a:t>I am interested in Data Analytics because I enjoy working with data, identifying patterns, solving problems.</a:t>
            </a:r>
          </a:p>
          <a:p>
            <a:pPr marL="257175" indent="-257175">
              <a:lnSpc>
                <a:spcPct val="150000"/>
              </a:lnSpc>
              <a:buFont typeface="Arial" panose="020B0604020202020204" pitchFamily="34" charset="0"/>
              <a:buChar char="•"/>
            </a:pPr>
            <a:r>
              <a:rPr lang="en-US" sz="1500" dirty="0"/>
              <a:t> </a:t>
            </a:r>
            <a:r>
              <a:rPr lang="en-US" sz="1500" b="1" dirty="0"/>
              <a:t>Career Objective: </a:t>
            </a:r>
            <a:r>
              <a:rPr lang="en-US" sz="1500" dirty="0"/>
              <a:t>To build a successful career in Data Analytics by applying my skills in SQL,</a:t>
            </a:r>
          </a:p>
          <a:p>
            <a:pPr>
              <a:lnSpc>
                <a:spcPct val="150000"/>
              </a:lnSpc>
            </a:pPr>
            <a:r>
              <a:rPr lang="en-US" sz="1500" dirty="0"/>
              <a:t>       Python, Excel, and data visualization to analyze data, solve business problems, and generate  </a:t>
            </a:r>
          </a:p>
          <a:p>
            <a:pPr>
              <a:lnSpc>
                <a:spcPct val="150000"/>
              </a:lnSpc>
            </a:pPr>
            <a:r>
              <a:rPr lang="en-US" sz="1500" dirty="0"/>
              <a:t>       meaningful insights.</a:t>
            </a:r>
          </a:p>
          <a:p>
            <a:pPr marL="285750" indent="-285750">
              <a:lnSpc>
                <a:spcPct val="150000"/>
              </a:lnSpc>
              <a:buFont typeface="Arial" panose="020B0604020202020204" pitchFamily="34" charset="0"/>
              <a:buChar char="•"/>
            </a:pPr>
            <a:r>
              <a:rPr lang="en-US" sz="1500" dirty="0"/>
              <a:t>  </a:t>
            </a:r>
            <a:r>
              <a:rPr lang="en-US" sz="1500" b="1" dirty="0">
                <a:solidFill>
                  <a:schemeClr val="dk1"/>
                </a:solidFill>
                <a:latin typeface="Calibri"/>
                <a:ea typeface="Calibri"/>
                <a:cs typeface="Calibri"/>
                <a:sym typeface="Calibri"/>
              </a:rPr>
              <a:t>LinkedIn:</a:t>
            </a:r>
            <a:r>
              <a:rPr lang="en-US" sz="1500" b="1" dirty="0">
                <a:solidFill>
                  <a:schemeClr val="dk1"/>
                </a:solidFill>
                <a:ea typeface="Calibri"/>
                <a:cs typeface="Calibri"/>
                <a:sym typeface="Calibri"/>
              </a:rPr>
              <a:t>    </a:t>
            </a:r>
            <a:r>
              <a:rPr lang="en-US" sz="1500" b="1" dirty="0">
                <a:solidFill>
                  <a:schemeClr val="dk1"/>
                </a:solidFill>
                <a:ea typeface="Calibri"/>
                <a:cs typeface="Calibri"/>
                <a:sym typeface="Calibri"/>
                <a:hlinkClick r:id="rId2"/>
              </a:rPr>
              <a:t>https://www.linkedin.com/in/pittala-srivani-a839812a8</a:t>
            </a:r>
            <a:br>
              <a:rPr lang="en-US" sz="1800" dirty="0">
                <a:hlinkClick r:id="rId2"/>
              </a:rPr>
            </a:br>
            <a:endParaRPr lang="en-US" sz="18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147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6565E6-287B-72D4-F14A-AB0D0C55A02A}"/>
              </a:ext>
            </a:extLst>
          </p:cNvPr>
          <p:cNvSpPr txBox="1"/>
          <p:nvPr/>
        </p:nvSpPr>
        <p:spPr>
          <a:xfrm>
            <a:off x="232117" y="124341"/>
            <a:ext cx="5570806" cy="523220"/>
          </a:xfrm>
          <a:prstGeom prst="rect">
            <a:avLst/>
          </a:prstGeom>
          <a:noFill/>
        </p:spPr>
        <p:txBody>
          <a:bodyPr wrap="square">
            <a:spAutoFit/>
          </a:bodyPr>
          <a:lstStyle/>
          <a:p>
            <a:r>
              <a:rPr lang="en-US" sz="2800" b="1" dirty="0">
                <a:solidFill>
                  <a:srgbClr val="CC0000"/>
                </a:solidFill>
                <a:latin typeface="Times New Roman" panose="02020603050405020304" pitchFamily="18" charset="0"/>
                <a:cs typeface="Times New Roman" panose="02020603050405020304" pitchFamily="18" charset="0"/>
              </a:rPr>
              <a:t>⚙ AGENDA :</a:t>
            </a:r>
            <a:endParaRPr lang="en-IN" dirty="0"/>
          </a:p>
        </p:txBody>
      </p:sp>
      <p:sp>
        <p:nvSpPr>
          <p:cNvPr id="5" name="Shape 12">
            <a:extLst>
              <a:ext uri="{FF2B5EF4-FFF2-40B4-BE49-F238E27FC236}">
                <a16:creationId xmlns:a16="http://schemas.microsoft.com/office/drawing/2014/main" id="{7DBD922F-EFAD-119B-BB73-6153E949D8F1}"/>
              </a:ext>
            </a:extLst>
          </p:cNvPr>
          <p:cNvSpPr/>
          <p:nvPr/>
        </p:nvSpPr>
        <p:spPr>
          <a:xfrm>
            <a:off x="492369" y="835478"/>
            <a:ext cx="3429000" cy="600290"/>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1. Business Problem</a:t>
            </a:r>
            <a:endParaRPr lang="en-IN" dirty="0"/>
          </a:p>
        </p:txBody>
      </p:sp>
      <p:sp>
        <p:nvSpPr>
          <p:cNvPr id="7" name="Shape 12">
            <a:extLst>
              <a:ext uri="{FF2B5EF4-FFF2-40B4-BE49-F238E27FC236}">
                <a16:creationId xmlns:a16="http://schemas.microsoft.com/office/drawing/2014/main" id="{21C62BE9-79D1-009B-1058-E0E767E9B03C}"/>
              </a:ext>
            </a:extLst>
          </p:cNvPr>
          <p:cNvSpPr/>
          <p:nvPr/>
        </p:nvSpPr>
        <p:spPr>
          <a:xfrm>
            <a:off x="4866693" y="975853"/>
            <a:ext cx="3429000" cy="567925"/>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6. Queries and Insights</a:t>
            </a:r>
            <a:endParaRPr lang="en-IN" sz="2400" dirty="0"/>
          </a:p>
        </p:txBody>
      </p:sp>
      <p:sp>
        <p:nvSpPr>
          <p:cNvPr id="9" name="Shape 12">
            <a:extLst>
              <a:ext uri="{FF2B5EF4-FFF2-40B4-BE49-F238E27FC236}">
                <a16:creationId xmlns:a16="http://schemas.microsoft.com/office/drawing/2014/main" id="{80498973-6C57-26F9-0E1C-64250AEE0D14}"/>
              </a:ext>
            </a:extLst>
          </p:cNvPr>
          <p:cNvSpPr/>
          <p:nvPr/>
        </p:nvSpPr>
        <p:spPr>
          <a:xfrm>
            <a:off x="4866693" y="1850036"/>
            <a:ext cx="3429000" cy="542047"/>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7. Recommendation</a:t>
            </a:r>
            <a:endParaRPr lang="en-IN" sz="2400" dirty="0"/>
          </a:p>
        </p:txBody>
      </p:sp>
      <p:sp>
        <p:nvSpPr>
          <p:cNvPr id="11" name="Shape 12">
            <a:extLst>
              <a:ext uri="{FF2B5EF4-FFF2-40B4-BE49-F238E27FC236}">
                <a16:creationId xmlns:a16="http://schemas.microsoft.com/office/drawing/2014/main" id="{B164AE61-A53B-6D0C-2721-8712AB703121}"/>
              </a:ext>
            </a:extLst>
          </p:cNvPr>
          <p:cNvSpPr/>
          <p:nvPr/>
        </p:nvSpPr>
        <p:spPr>
          <a:xfrm>
            <a:off x="492369" y="1718899"/>
            <a:ext cx="3429000" cy="600289"/>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2. Problem Statement</a:t>
            </a:r>
            <a:endParaRPr lang="en-IN" sz="2400" dirty="0"/>
          </a:p>
        </p:txBody>
      </p:sp>
      <p:sp>
        <p:nvSpPr>
          <p:cNvPr id="13" name="Shape 12">
            <a:extLst>
              <a:ext uri="{FF2B5EF4-FFF2-40B4-BE49-F238E27FC236}">
                <a16:creationId xmlns:a16="http://schemas.microsoft.com/office/drawing/2014/main" id="{F10872A3-A5A5-E807-C460-59EE460239CE}"/>
              </a:ext>
            </a:extLst>
          </p:cNvPr>
          <p:cNvSpPr/>
          <p:nvPr/>
        </p:nvSpPr>
        <p:spPr>
          <a:xfrm>
            <a:off x="492369" y="2618079"/>
            <a:ext cx="3429000" cy="600290"/>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3. Introduction</a:t>
            </a:r>
            <a:endParaRPr lang="en-IN" sz="2400" dirty="0"/>
          </a:p>
        </p:txBody>
      </p:sp>
      <p:sp>
        <p:nvSpPr>
          <p:cNvPr id="15" name="Shape 12">
            <a:extLst>
              <a:ext uri="{FF2B5EF4-FFF2-40B4-BE49-F238E27FC236}">
                <a16:creationId xmlns:a16="http://schemas.microsoft.com/office/drawing/2014/main" id="{FEE961ED-2D41-DCA8-B405-B8697AA77F9B}"/>
              </a:ext>
            </a:extLst>
          </p:cNvPr>
          <p:cNvSpPr/>
          <p:nvPr/>
        </p:nvSpPr>
        <p:spPr>
          <a:xfrm>
            <a:off x="4866693" y="2751418"/>
            <a:ext cx="3429000" cy="527881"/>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8. Conclusion</a:t>
            </a:r>
            <a:endParaRPr lang="en-IN" sz="2400" dirty="0"/>
          </a:p>
        </p:txBody>
      </p:sp>
      <p:sp>
        <p:nvSpPr>
          <p:cNvPr id="17" name="Shape 12">
            <a:extLst>
              <a:ext uri="{FF2B5EF4-FFF2-40B4-BE49-F238E27FC236}">
                <a16:creationId xmlns:a16="http://schemas.microsoft.com/office/drawing/2014/main" id="{6208D66A-F887-1E0E-F7A3-36C8F575D741}"/>
              </a:ext>
            </a:extLst>
          </p:cNvPr>
          <p:cNvSpPr/>
          <p:nvPr/>
        </p:nvSpPr>
        <p:spPr>
          <a:xfrm>
            <a:off x="492369" y="3451494"/>
            <a:ext cx="3429000" cy="600289"/>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4. Project Objectives</a:t>
            </a:r>
            <a:endParaRPr lang="en-IN" sz="2400" dirty="0"/>
          </a:p>
        </p:txBody>
      </p:sp>
      <p:sp>
        <p:nvSpPr>
          <p:cNvPr id="19" name="Shape 12">
            <a:extLst>
              <a:ext uri="{FF2B5EF4-FFF2-40B4-BE49-F238E27FC236}">
                <a16:creationId xmlns:a16="http://schemas.microsoft.com/office/drawing/2014/main" id="{D2051D98-6B22-F909-EB55-769B03DB10B2}"/>
              </a:ext>
            </a:extLst>
          </p:cNvPr>
          <p:cNvSpPr/>
          <p:nvPr/>
        </p:nvSpPr>
        <p:spPr>
          <a:xfrm>
            <a:off x="4789321" y="3585556"/>
            <a:ext cx="4066292" cy="587446"/>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300" dirty="0"/>
              <a:t>9. Challenges and Experiences</a:t>
            </a:r>
            <a:endParaRPr lang="en-IN" sz="2300" dirty="0"/>
          </a:p>
        </p:txBody>
      </p:sp>
      <p:sp>
        <p:nvSpPr>
          <p:cNvPr id="21" name="Shape 12">
            <a:extLst>
              <a:ext uri="{FF2B5EF4-FFF2-40B4-BE49-F238E27FC236}">
                <a16:creationId xmlns:a16="http://schemas.microsoft.com/office/drawing/2014/main" id="{700FCECB-A53E-BC2D-B184-3E9022726BDC}"/>
              </a:ext>
            </a:extLst>
          </p:cNvPr>
          <p:cNvSpPr/>
          <p:nvPr/>
        </p:nvSpPr>
        <p:spPr>
          <a:xfrm>
            <a:off x="492369" y="4284909"/>
            <a:ext cx="3429000" cy="641466"/>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gn="ctr"/>
            <a:r>
              <a:rPr lang="en-US" sz="2400" dirty="0"/>
              <a:t>5. Data Description</a:t>
            </a:r>
            <a:endParaRPr lang="en-IN" sz="2400" dirty="0"/>
          </a:p>
        </p:txBody>
      </p:sp>
    </p:spTree>
    <p:extLst>
      <p:ext uri="{BB962C8B-B14F-4D97-AF65-F5344CB8AC3E}">
        <p14:creationId xmlns:p14="http://schemas.microsoft.com/office/powerpoint/2010/main" val="70351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DCD6C5-7F9D-07D3-40CF-3B9001945E74}"/>
              </a:ext>
            </a:extLst>
          </p:cNvPr>
          <p:cNvSpPr txBox="1"/>
          <p:nvPr/>
        </p:nvSpPr>
        <p:spPr>
          <a:xfrm>
            <a:off x="203982" y="364803"/>
            <a:ext cx="6710289" cy="523220"/>
          </a:xfrm>
          <a:prstGeom prst="rect">
            <a:avLst/>
          </a:prstGeom>
          <a:noFill/>
        </p:spPr>
        <p:txBody>
          <a:bodyPr wrap="square">
            <a:spAutoFit/>
          </a:bodyPr>
          <a:lstStyle/>
          <a:p>
            <a:pPr lvl="0"/>
            <a:r>
              <a:rPr lang="en-US" sz="2800" b="1" dirty="0">
                <a:solidFill>
                  <a:srgbClr val="CC0000"/>
                </a:solidFill>
                <a:latin typeface="Times New Roman" panose="02020603050405020304" pitchFamily="18" charset="0"/>
                <a:cs typeface="Times New Roman" panose="02020603050405020304" pitchFamily="18" charset="0"/>
              </a:rPr>
              <a:t>⚙ BUSINESS PROBLEM: </a:t>
            </a:r>
            <a:r>
              <a:rPr lang="en-IN" sz="2800" dirty="0"/>
              <a:t> </a:t>
            </a:r>
          </a:p>
        </p:txBody>
      </p:sp>
      <p:sp>
        <p:nvSpPr>
          <p:cNvPr id="5" name="Shape 12">
            <a:extLst>
              <a:ext uri="{FF2B5EF4-FFF2-40B4-BE49-F238E27FC236}">
                <a16:creationId xmlns:a16="http://schemas.microsoft.com/office/drawing/2014/main" id="{E3C3B3C6-4402-A4CB-EBC9-119247615810}"/>
              </a:ext>
            </a:extLst>
          </p:cNvPr>
          <p:cNvSpPr/>
          <p:nvPr/>
        </p:nvSpPr>
        <p:spPr>
          <a:xfrm>
            <a:off x="395974" y="1080713"/>
            <a:ext cx="8199386" cy="3505355"/>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lgn="just">
              <a:lnSpc>
                <a:spcPct val="150000"/>
              </a:lnSpc>
              <a:buFont typeface="Wingdings" panose="05000000000000000000" pitchFamily="2" charset="2"/>
              <a:buChar char="Ø"/>
            </a:pPr>
            <a:r>
              <a:rPr lang="en-US" sz="1600" dirty="0"/>
              <a:t>Difficulty in identifying top-selling music genres, artists, and tracks.</a:t>
            </a:r>
          </a:p>
          <a:p>
            <a:pPr marL="285750" indent="-285750" algn="just">
              <a:lnSpc>
                <a:spcPct val="150000"/>
              </a:lnSpc>
              <a:buFont typeface="Wingdings" panose="05000000000000000000" pitchFamily="2" charset="2"/>
              <a:buChar char="Ø"/>
            </a:pPr>
            <a:r>
              <a:rPr lang="en-US" sz="1600" dirty="0"/>
              <a:t>Lack of insights into customer purchasing behavior and preferences.</a:t>
            </a:r>
          </a:p>
          <a:p>
            <a:pPr marL="285750" indent="-285750" algn="just">
              <a:lnSpc>
                <a:spcPct val="150000"/>
              </a:lnSpc>
              <a:buFont typeface="Wingdings" panose="05000000000000000000" pitchFamily="2" charset="2"/>
              <a:buChar char="Ø"/>
            </a:pPr>
            <a:r>
              <a:rPr lang="en-US" sz="1600" dirty="0"/>
              <a:t>Challenges in analyzing revenue trends and sales performance across different regions.</a:t>
            </a:r>
          </a:p>
          <a:p>
            <a:pPr marL="285750" indent="-285750" algn="just">
              <a:lnSpc>
                <a:spcPct val="150000"/>
              </a:lnSpc>
              <a:buFont typeface="Wingdings" panose="05000000000000000000" pitchFamily="2" charset="2"/>
              <a:buChar char="Ø"/>
            </a:pPr>
            <a:r>
              <a:rPr lang="en-US" sz="1600" dirty="0"/>
              <a:t>Need for data-driven insights to identify growth opportunities and improve business decisions.</a:t>
            </a:r>
          </a:p>
          <a:p>
            <a:pPr marL="285750" indent="-285750" algn="just">
              <a:lnSpc>
                <a:spcPct val="150000"/>
              </a:lnSpc>
              <a:buFont typeface="Wingdings" panose="05000000000000000000" pitchFamily="2" charset="2"/>
              <a:buChar char="Ø"/>
            </a:pPr>
            <a:r>
              <a:rPr lang="en-US" sz="1600" dirty="0"/>
              <a:t>Difficulty in identifying high-value customers and understanding their contribution to overall revenue.</a:t>
            </a:r>
          </a:p>
          <a:p>
            <a:pPr marL="285750" indent="-285750" algn="just">
              <a:lnSpc>
                <a:spcPct val="150000"/>
              </a:lnSpc>
              <a:buFont typeface="Wingdings" panose="05000000000000000000" pitchFamily="2" charset="2"/>
              <a:buChar char="Ø"/>
            </a:pPr>
            <a:r>
              <a:rPr lang="en-US" sz="1600" dirty="0"/>
              <a:t>Limited visibility into music inventory and product performance, affecting business planning and sales strategies.</a:t>
            </a:r>
          </a:p>
        </p:txBody>
      </p:sp>
    </p:spTree>
    <p:extLst>
      <p:ext uri="{BB962C8B-B14F-4D97-AF65-F5344CB8AC3E}">
        <p14:creationId xmlns:p14="http://schemas.microsoft.com/office/powerpoint/2010/main" val="34194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7500E1A-E9EC-F9BD-B069-4094C1E4FF41}"/>
              </a:ext>
            </a:extLst>
          </p:cNvPr>
          <p:cNvSpPr txBox="1"/>
          <p:nvPr/>
        </p:nvSpPr>
        <p:spPr>
          <a:xfrm>
            <a:off x="400929" y="364802"/>
            <a:ext cx="6710289" cy="523220"/>
          </a:xfrm>
          <a:prstGeom prst="rect">
            <a:avLst/>
          </a:prstGeom>
          <a:noFill/>
        </p:spPr>
        <p:txBody>
          <a:bodyPr wrap="square">
            <a:spAutoFit/>
          </a:bodyPr>
          <a:lstStyle/>
          <a:p>
            <a:pPr lvl="0"/>
            <a:r>
              <a:rPr lang="en-US" sz="2800" b="1" dirty="0">
                <a:solidFill>
                  <a:srgbClr val="CC0000"/>
                </a:solidFill>
                <a:latin typeface="Times New Roman" panose="02020603050405020304" pitchFamily="18" charset="0"/>
                <a:cs typeface="Times New Roman" panose="02020603050405020304" pitchFamily="18" charset="0"/>
              </a:rPr>
              <a:t>⚙ PROBLEM STATEMENT: </a:t>
            </a:r>
            <a:r>
              <a:rPr lang="en-IN" sz="2800" dirty="0"/>
              <a:t> </a:t>
            </a:r>
          </a:p>
        </p:txBody>
      </p:sp>
      <p:sp>
        <p:nvSpPr>
          <p:cNvPr id="8" name="Shape 12">
            <a:extLst>
              <a:ext uri="{FF2B5EF4-FFF2-40B4-BE49-F238E27FC236}">
                <a16:creationId xmlns:a16="http://schemas.microsoft.com/office/drawing/2014/main" id="{DC1728A9-33AC-E184-6742-7378D0537A3E}"/>
              </a:ext>
            </a:extLst>
          </p:cNvPr>
          <p:cNvSpPr/>
          <p:nvPr/>
        </p:nvSpPr>
        <p:spPr>
          <a:xfrm>
            <a:off x="400929" y="1055077"/>
            <a:ext cx="8257736" cy="3200401"/>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lgn="just">
              <a:lnSpc>
                <a:spcPct val="150000"/>
              </a:lnSpc>
              <a:buFont typeface="Wingdings" panose="05000000000000000000" pitchFamily="2" charset="2"/>
              <a:buChar char="Ø"/>
            </a:pPr>
            <a:r>
              <a:rPr lang="en-IN" sz="1600" dirty="0"/>
              <a:t>The music store generates large volumes of data related to customers, sales, invoices, and music inventory. However, the lack of structured data analysis makes it difficult to identify sales trends, understand customer purchasing behaviour, recognize top-performing artists and genres, and evaluate revenue across different regions.</a:t>
            </a:r>
          </a:p>
          <a:p>
            <a:pPr marL="285750" indent="-285750" algn="just">
              <a:lnSpc>
                <a:spcPct val="150000"/>
              </a:lnSpc>
              <a:buFont typeface="Wingdings" panose="05000000000000000000" pitchFamily="2" charset="2"/>
              <a:buChar char="Ø"/>
            </a:pPr>
            <a:r>
              <a:rPr lang="en-IN" sz="1600" dirty="0"/>
              <a:t>This project aims to leverage SQL-based data analysis to uncover meaningful business insights, identify growth opportunities, optimize sales strategies, and support informed decision-making to improve overall business performance.</a:t>
            </a:r>
          </a:p>
        </p:txBody>
      </p:sp>
    </p:spTree>
    <p:extLst>
      <p:ext uri="{BB962C8B-B14F-4D97-AF65-F5344CB8AC3E}">
        <p14:creationId xmlns:p14="http://schemas.microsoft.com/office/powerpoint/2010/main" val="2794757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E708B3-A744-03F6-849B-6ADE0E04B78B}"/>
              </a:ext>
            </a:extLst>
          </p:cNvPr>
          <p:cNvSpPr txBox="1"/>
          <p:nvPr/>
        </p:nvSpPr>
        <p:spPr>
          <a:xfrm>
            <a:off x="147711" y="274319"/>
            <a:ext cx="6710289" cy="523220"/>
          </a:xfrm>
          <a:prstGeom prst="rect">
            <a:avLst/>
          </a:prstGeom>
          <a:noFill/>
        </p:spPr>
        <p:txBody>
          <a:bodyPr wrap="square">
            <a:spAutoFit/>
          </a:bodyPr>
          <a:lstStyle/>
          <a:p>
            <a:pPr lvl="0"/>
            <a:r>
              <a:rPr lang="en-US" sz="2800" b="1" dirty="0">
                <a:solidFill>
                  <a:srgbClr val="CC0000"/>
                </a:solidFill>
                <a:latin typeface="Times New Roman" panose="02020603050405020304" pitchFamily="18" charset="0"/>
                <a:cs typeface="Times New Roman" panose="02020603050405020304" pitchFamily="18" charset="0"/>
              </a:rPr>
              <a:t>⚙ INTRODUCTION: </a:t>
            </a:r>
            <a:r>
              <a:rPr lang="en-IN" sz="2800" dirty="0"/>
              <a:t> </a:t>
            </a:r>
          </a:p>
        </p:txBody>
      </p:sp>
      <p:sp>
        <p:nvSpPr>
          <p:cNvPr id="7" name="Shape 12">
            <a:extLst>
              <a:ext uri="{FF2B5EF4-FFF2-40B4-BE49-F238E27FC236}">
                <a16:creationId xmlns:a16="http://schemas.microsoft.com/office/drawing/2014/main" id="{E67DA403-0077-77D1-0BE0-3B5FA76EB44A}"/>
              </a:ext>
            </a:extLst>
          </p:cNvPr>
          <p:cNvSpPr/>
          <p:nvPr/>
        </p:nvSpPr>
        <p:spPr>
          <a:xfrm>
            <a:off x="395974" y="999824"/>
            <a:ext cx="8199386" cy="3143851"/>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lgn="just">
              <a:lnSpc>
                <a:spcPct val="150000"/>
              </a:lnSpc>
              <a:buFont typeface="Wingdings" panose="05000000000000000000" pitchFamily="2" charset="2"/>
              <a:buChar char="Ø"/>
            </a:pPr>
            <a:r>
              <a:rPr lang="en-IN" sz="1600" dirty="0"/>
              <a:t>The Music Store Data Analysis project focuses on exploring and analysing a relational database using SQL to uncover valuable business insights. The project involves examining customer information, sales transactions, invoices, artists, albums, and music genres to understand business performance.</a:t>
            </a:r>
          </a:p>
          <a:p>
            <a:pPr marL="285750" indent="-285750" algn="just">
              <a:lnSpc>
                <a:spcPct val="150000"/>
              </a:lnSpc>
              <a:buFont typeface="Wingdings" panose="05000000000000000000" pitchFamily="2" charset="2"/>
              <a:buChar char="Ø"/>
            </a:pPr>
            <a:r>
              <a:rPr lang="en-IN" sz="1600" dirty="0"/>
              <a:t>By applying SQL concepts such as joins, aggregate functions, subqueries, and Common Table Expressions (CTEs), the analysis identifies sales trends, customer purchasing behaviour, top-performing artists, and revenue patterns across different regions.</a:t>
            </a:r>
          </a:p>
        </p:txBody>
      </p:sp>
    </p:spTree>
    <p:extLst>
      <p:ext uri="{BB962C8B-B14F-4D97-AF65-F5344CB8AC3E}">
        <p14:creationId xmlns:p14="http://schemas.microsoft.com/office/powerpoint/2010/main" val="3953072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83DC-EB50-C888-FDC7-9A0E47F1C46A}"/>
              </a:ext>
            </a:extLst>
          </p:cNvPr>
          <p:cNvSpPr>
            <a:spLocks noGrp="1"/>
          </p:cNvSpPr>
          <p:nvPr>
            <p:ph type="title"/>
          </p:nvPr>
        </p:nvSpPr>
        <p:spPr>
          <a:xfrm>
            <a:off x="215850" y="0"/>
            <a:ext cx="8079252" cy="576775"/>
          </a:xfrm>
        </p:spPr>
        <p:txBody>
          <a:bodyPr>
            <a:normAutofit fontScale="90000"/>
          </a:bodyPr>
          <a:lstStyle/>
          <a:p>
            <a:br>
              <a:rPr lang="en-US" sz="3100" b="1" dirty="0">
                <a:solidFill>
                  <a:srgbClr val="CC0000"/>
                </a:solidFill>
                <a:latin typeface="Times New Roman" panose="02020603050405020304" pitchFamily="18" charset="0"/>
                <a:cs typeface="Times New Roman" panose="02020603050405020304" pitchFamily="18" charset="0"/>
              </a:rPr>
            </a:br>
            <a:br>
              <a:rPr lang="en-US" sz="3100" b="1" dirty="0">
                <a:solidFill>
                  <a:srgbClr val="CC0000"/>
                </a:solidFill>
                <a:latin typeface="Times New Roman" panose="02020603050405020304" pitchFamily="18" charset="0"/>
                <a:cs typeface="Times New Roman" panose="02020603050405020304" pitchFamily="18" charset="0"/>
              </a:rPr>
            </a:br>
            <a:r>
              <a:rPr lang="en-US" sz="3100" b="1" dirty="0">
                <a:solidFill>
                  <a:srgbClr val="CC0000"/>
                </a:solidFill>
                <a:latin typeface="Times New Roman" panose="02020603050405020304" pitchFamily="18" charset="0"/>
                <a:cs typeface="Times New Roman" panose="02020603050405020304" pitchFamily="18" charset="0"/>
              </a:rPr>
              <a:t>⚙ PROJECT  OBJECTIVES: </a:t>
            </a:r>
            <a:r>
              <a:rPr lang="en-IN" sz="3100" dirty="0"/>
              <a:t> </a:t>
            </a:r>
            <a:br>
              <a:rPr lang="en-IN" dirty="0"/>
            </a:br>
            <a:endParaRPr lang="en-IN" dirty="0"/>
          </a:p>
        </p:txBody>
      </p:sp>
      <p:sp>
        <p:nvSpPr>
          <p:cNvPr id="4" name="Shape 12">
            <a:extLst>
              <a:ext uri="{FF2B5EF4-FFF2-40B4-BE49-F238E27FC236}">
                <a16:creationId xmlns:a16="http://schemas.microsoft.com/office/drawing/2014/main" id="{9F18BDE9-B77A-8E5F-C0CF-D46CD9C345A2}"/>
              </a:ext>
            </a:extLst>
          </p:cNvPr>
          <p:cNvSpPr/>
          <p:nvPr/>
        </p:nvSpPr>
        <p:spPr>
          <a:xfrm>
            <a:off x="215850" y="710420"/>
            <a:ext cx="8079252" cy="3945986"/>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buFont typeface="Arial" panose="020B0604020202020204" pitchFamily="34" charset="0"/>
              <a:buChar char="•"/>
            </a:pPr>
            <a:r>
              <a:rPr lang="en-US" sz="1600" b="1" dirty="0"/>
              <a:t>Sales Performance Analysis:</a:t>
            </a:r>
          </a:p>
          <a:p>
            <a:r>
              <a:rPr lang="en-US" sz="1600" dirty="0"/>
              <a:t>Analyze sales transactions and revenue patterns to understand overall business performance and identify growth opportunities.</a:t>
            </a:r>
          </a:p>
          <a:p>
            <a:pPr marL="285750" indent="-285750">
              <a:buFont typeface="Arial" panose="020B0604020202020204" pitchFamily="34" charset="0"/>
              <a:buChar char="•"/>
            </a:pPr>
            <a:r>
              <a:rPr lang="en-US" sz="1600" b="1" dirty="0"/>
              <a:t> Customer Behavior Analysis:</a:t>
            </a:r>
          </a:p>
          <a:p>
            <a:r>
              <a:rPr lang="en-US" sz="1600" dirty="0"/>
              <a:t>Examine customer purchasing patterns to identify high-value customers and understand their contribution to total revenue.</a:t>
            </a:r>
          </a:p>
          <a:p>
            <a:pPr marL="285750" indent="-285750">
              <a:buFont typeface="Arial" panose="020B0604020202020204" pitchFamily="34" charset="0"/>
              <a:buChar char="•"/>
            </a:pPr>
            <a:r>
              <a:rPr lang="en-US" sz="1600" b="1" dirty="0"/>
              <a:t>Music Trend Analysis:</a:t>
            </a:r>
          </a:p>
          <a:p>
            <a:r>
              <a:rPr lang="en-US" sz="1600" dirty="0"/>
              <a:t>Identify popular genres, artists, and tracks based on sales data to understand customer preferences and music trends.</a:t>
            </a:r>
          </a:p>
          <a:p>
            <a:pPr marL="285750" indent="-285750">
              <a:buFont typeface="Arial" panose="020B0604020202020204" pitchFamily="34" charset="0"/>
              <a:buChar char="•"/>
            </a:pPr>
            <a:r>
              <a:rPr lang="en-US" sz="1600" b="1" dirty="0"/>
              <a:t>Geographic Sales Analysis:</a:t>
            </a:r>
          </a:p>
          <a:p>
            <a:r>
              <a:rPr lang="en-US" sz="1600" dirty="0"/>
              <a:t>Evaluate sales across different countries and regions to identify high-performing markets                 and regional business opportunities.</a:t>
            </a:r>
          </a:p>
          <a:p>
            <a:pPr marL="285750" indent="-285750">
              <a:buFont typeface="Arial" panose="020B0604020202020204" pitchFamily="34" charset="0"/>
              <a:buChar char="•"/>
            </a:pPr>
            <a:r>
              <a:rPr lang="en-US" sz="1600" b="1" dirty="0"/>
              <a:t> Employee Performance Analysis:</a:t>
            </a:r>
          </a:p>
          <a:p>
            <a:r>
              <a:rPr lang="en-US" sz="1600" dirty="0"/>
              <a:t>Analyze employee contributions and customer support activities to understand performance and operational effectiveness.</a:t>
            </a:r>
            <a:endParaRPr lang="en-IN" sz="1600" dirty="0"/>
          </a:p>
        </p:txBody>
      </p:sp>
    </p:spTree>
    <p:extLst>
      <p:ext uri="{BB962C8B-B14F-4D97-AF65-F5344CB8AC3E}">
        <p14:creationId xmlns:p14="http://schemas.microsoft.com/office/powerpoint/2010/main" val="3645820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72D7B-F6F0-37CC-1CC6-EF87BD81FCC6}"/>
              </a:ext>
            </a:extLst>
          </p:cNvPr>
          <p:cNvSpPr>
            <a:spLocks noGrp="1"/>
          </p:cNvSpPr>
          <p:nvPr>
            <p:ph type="title"/>
          </p:nvPr>
        </p:nvSpPr>
        <p:spPr>
          <a:xfrm>
            <a:off x="628650" y="273844"/>
            <a:ext cx="7886700" cy="921910"/>
          </a:xfrm>
        </p:spPr>
        <p:txBody>
          <a:bodyPr>
            <a:normAutofit fontScale="90000"/>
          </a:bodyPr>
          <a:lstStyle/>
          <a:p>
            <a:r>
              <a:rPr lang="en-US" sz="3100" b="1" dirty="0" err="1">
                <a:solidFill>
                  <a:srgbClr val="CC0000"/>
                </a:solidFill>
                <a:latin typeface="Cambria" pitchFamily="34" charset="0"/>
                <a:ea typeface="Cambria" pitchFamily="34" charset="-122"/>
                <a:cs typeface="Cambria" pitchFamily="34" charset="-120"/>
              </a:rPr>
              <a:t>i</a:t>
            </a:r>
            <a:r>
              <a:rPr lang="en-US" sz="3100" b="1" dirty="0">
                <a:solidFill>
                  <a:srgbClr val="CC0000"/>
                </a:solidFill>
                <a:latin typeface="Cambria" pitchFamily="34" charset="0"/>
                <a:ea typeface="Cambria" pitchFamily="34" charset="-122"/>
                <a:cs typeface="Cambria" pitchFamily="34" charset="-120"/>
              </a:rPr>
              <a:t>. DATA DESCRIPTION:</a:t>
            </a:r>
            <a:br>
              <a:rPr lang="en-US" dirty="0"/>
            </a:br>
            <a:endParaRPr lang="en-IN" dirty="0">
              <a:solidFill>
                <a:srgbClr val="FF0000"/>
              </a:solidFill>
            </a:endParaRPr>
          </a:p>
        </p:txBody>
      </p:sp>
      <p:pic>
        <p:nvPicPr>
          <p:cNvPr id="5" name="Picture 4">
            <a:extLst>
              <a:ext uri="{FF2B5EF4-FFF2-40B4-BE49-F238E27FC236}">
                <a16:creationId xmlns:a16="http://schemas.microsoft.com/office/drawing/2014/main" id="{058AACF5-906B-691B-F685-E20E8218063A}"/>
              </a:ext>
            </a:extLst>
          </p:cNvPr>
          <p:cNvPicPr>
            <a:picLocks noChangeAspect="1"/>
          </p:cNvPicPr>
          <p:nvPr/>
        </p:nvPicPr>
        <p:blipFill>
          <a:blip r:embed="rId2"/>
          <a:stretch>
            <a:fillRect/>
          </a:stretch>
        </p:blipFill>
        <p:spPr>
          <a:xfrm>
            <a:off x="416242" y="1382590"/>
            <a:ext cx="3902539" cy="971550"/>
          </a:xfrm>
          <a:prstGeom prst="rect">
            <a:avLst/>
          </a:prstGeom>
        </p:spPr>
      </p:pic>
      <p:sp>
        <p:nvSpPr>
          <p:cNvPr id="6" name="TextBox 5">
            <a:extLst>
              <a:ext uri="{FF2B5EF4-FFF2-40B4-BE49-F238E27FC236}">
                <a16:creationId xmlns:a16="http://schemas.microsoft.com/office/drawing/2014/main" id="{08485505-350A-AB62-DF39-0C47BE68B7BD}"/>
              </a:ext>
            </a:extLst>
          </p:cNvPr>
          <p:cNvSpPr txBox="1"/>
          <p:nvPr/>
        </p:nvSpPr>
        <p:spPr>
          <a:xfrm>
            <a:off x="624161" y="919840"/>
            <a:ext cx="875753" cy="369332"/>
          </a:xfrm>
          <a:prstGeom prst="rect">
            <a:avLst/>
          </a:prstGeom>
          <a:noFill/>
        </p:spPr>
        <p:txBody>
          <a:bodyPr wrap="none" rtlCol="0">
            <a:spAutoFit/>
          </a:bodyPr>
          <a:lstStyle/>
          <a:p>
            <a:r>
              <a:rPr lang="en-US" dirty="0">
                <a:solidFill>
                  <a:srgbClr val="C00000"/>
                </a:solidFill>
              </a:rPr>
              <a:t>Genre :</a:t>
            </a:r>
            <a:endParaRPr lang="en-IN" dirty="0">
              <a:solidFill>
                <a:srgbClr val="C00000"/>
              </a:solidFill>
            </a:endParaRPr>
          </a:p>
        </p:txBody>
      </p:sp>
      <p:sp>
        <p:nvSpPr>
          <p:cNvPr id="7" name="TextBox 6">
            <a:extLst>
              <a:ext uri="{FF2B5EF4-FFF2-40B4-BE49-F238E27FC236}">
                <a16:creationId xmlns:a16="http://schemas.microsoft.com/office/drawing/2014/main" id="{774CDA65-922F-6ACB-00A1-A8E4C452359A}"/>
              </a:ext>
            </a:extLst>
          </p:cNvPr>
          <p:cNvSpPr txBox="1"/>
          <p:nvPr/>
        </p:nvSpPr>
        <p:spPr>
          <a:xfrm>
            <a:off x="4719710" y="919840"/>
            <a:ext cx="1261371" cy="369332"/>
          </a:xfrm>
          <a:prstGeom prst="rect">
            <a:avLst/>
          </a:prstGeom>
          <a:noFill/>
        </p:spPr>
        <p:txBody>
          <a:bodyPr wrap="none" rtlCol="0">
            <a:spAutoFit/>
          </a:bodyPr>
          <a:lstStyle/>
          <a:p>
            <a:r>
              <a:rPr lang="en-US" dirty="0" err="1">
                <a:solidFill>
                  <a:srgbClr val="C00000"/>
                </a:solidFill>
              </a:rPr>
              <a:t>Mediatype</a:t>
            </a:r>
            <a:r>
              <a:rPr lang="en-US" dirty="0">
                <a:solidFill>
                  <a:srgbClr val="C00000"/>
                </a:solidFill>
              </a:rPr>
              <a:t>:</a:t>
            </a:r>
            <a:endParaRPr lang="en-IN" dirty="0">
              <a:solidFill>
                <a:srgbClr val="FF0000"/>
              </a:solidFill>
            </a:endParaRPr>
          </a:p>
        </p:txBody>
      </p:sp>
      <p:pic>
        <p:nvPicPr>
          <p:cNvPr id="9" name="Picture 8">
            <a:extLst>
              <a:ext uri="{FF2B5EF4-FFF2-40B4-BE49-F238E27FC236}">
                <a16:creationId xmlns:a16="http://schemas.microsoft.com/office/drawing/2014/main" id="{F482908B-9D45-AD3F-3584-7C991099EC5B}"/>
              </a:ext>
            </a:extLst>
          </p:cNvPr>
          <p:cNvPicPr>
            <a:picLocks noChangeAspect="1"/>
          </p:cNvPicPr>
          <p:nvPr/>
        </p:nvPicPr>
        <p:blipFill>
          <a:blip r:embed="rId3"/>
          <a:stretch>
            <a:fillRect/>
          </a:stretch>
        </p:blipFill>
        <p:spPr>
          <a:xfrm>
            <a:off x="4548610" y="1382590"/>
            <a:ext cx="4628124" cy="866775"/>
          </a:xfrm>
          <a:prstGeom prst="rect">
            <a:avLst/>
          </a:prstGeom>
        </p:spPr>
      </p:pic>
      <p:sp>
        <p:nvSpPr>
          <p:cNvPr id="10" name="TextBox 9">
            <a:extLst>
              <a:ext uri="{FF2B5EF4-FFF2-40B4-BE49-F238E27FC236}">
                <a16:creationId xmlns:a16="http://schemas.microsoft.com/office/drawing/2014/main" id="{A28ED727-C612-C8AD-3B64-EADCB34A20B2}"/>
              </a:ext>
            </a:extLst>
          </p:cNvPr>
          <p:cNvSpPr txBox="1"/>
          <p:nvPr/>
        </p:nvSpPr>
        <p:spPr>
          <a:xfrm>
            <a:off x="617053" y="2312449"/>
            <a:ext cx="1171283" cy="369332"/>
          </a:xfrm>
          <a:prstGeom prst="rect">
            <a:avLst/>
          </a:prstGeom>
          <a:noFill/>
        </p:spPr>
        <p:txBody>
          <a:bodyPr wrap="none" rtlCol="0">
            <a:spAutoFit/>
          </a:bodyPr>
          <a:lstStyle/>
          <a:p>
            <a:r>
              <a:rPr lang="en-US" dirty="0">
                <a:solidFill>
                  <a:srgbClr val="C00000"/>
                </a:solidFill>
              </a:rPr>
              <a:t>Employee:</a:t>
            </a:r>
            <a:endParaRPr lang="en-IN" dirty="0">
              <a:solidFill>
                <a:srgbClr val="C00000"/>
              </a:solidFill>
            </a:endParaRPr>
          </a:p>
        </p:txBody>
      </p:sp>
      <p:pic>
        <p:nvPicPr>
          <p:cNvPr id="12" name="Picture 11">
            <a:extLst>
              <a:ext uri="{FF2B5EF4-FFF2-40B4-BE49-F238E27FC236}">
                <a16:creationId xmlns:a16="http://schemas.microsoft.com/office/drawing/2014/main" id="{A468F293-EA1A-9C5F-9EF2-5846B987A866}"/>
              </a:ext>
            </a:extLst>
          </p:cNvPr>
          <p:cNvPicPr>
            <a:picLocks noChangeAspect="1"/>
          </p:cNvPicPr>
          <p:nvPr/>
        </p:nvPicPr>
        <p:blipFill>
          <a:blip r:embed="rId4"/>
          <a:stretch>
            <a:fillRect/>
          </a:stretch>
        </p:blipFill>
        <p:spPr>
          <a:xfrm>
            <a:off x="416242" y="2688303"/>
            <a:ext cx="4387875" cy="1954986"/>
          </a:xfrm>
          <a:prstGeom prst="rect">
            <a:avLst/>
          </a:prstGeom>
        </p:spPr>
      </p:pic>
      <p:sp>
        <p:nvSpPr>
          <p:cNvPr id="13" name="TextBox 12">
            <a:extLst>
              <a:ext uri="{FF2B5EF4-FFF2-40B4-BE49-F238E27FC236}">
                <a16:creationId xmlns:a16="http://schemas.microsoft.com/office/drawing/2014/main" id="{B00BCEE6-7C6F-2345-92D9-1E1EDB267471}"/>
              </a:ext>
            </a:extLst>
          </p:cNvPr>
          <p:cNvSpPr txBox="1"/>
          <p:nvPr/>
        </p:nvSpPr>
        <p:spPr>
          <a:xfrm>
            <a:off x="4824995" y="2312449"/>
            <a:ext cx="1156086" cy="369332"/>
          </a:xfrm>
          <a:prstGeom prst="rect">
            <a:avLst/>
          </a:prstGeom>
          <a:noFill/>
        </p:spPr>
        <p:txBody>
          <a:bodyPr wrap="none" rtlCol="0">
            <a:spAutoFit/>
          </a:bodyPr>
          <a:lstStyle/>
          <a:p>
            <a:r>
              <a:rPr lang="en-US" dirty="0">
                <a:solidFill>
                  <a:srgbClr val="C00000"/>
                </a:solidFill>
              </a:rPr>
              <a:t>Customer:</a:t>
            </a:r>
            <a:endParaRPr lang="en-IN" dirty="0">
              <a:solidFill>
                <a:srgbClr val="C00000"/>
              </a:solidFill>
            </a:endParaRPr>
          </a:p>
        </p:txBody>
      </p:sp>
      <p:pic>
        <p:nvPicPr>
          <p:cNvPr id="15" name="Picture 14">
            <a:extLst>
              <a:ext uri="{FF2B5EF4-FFF2-40B4-BE49-F238E27FC236}">
                <a16:creationId xmlns:a16="http://schemas.microsoft.com/office/drawing/2014/main" id="{D5F00010-1F51-83AF-928A-61B471DBE055}"/>
              </a:ext>
            </a:extLst>
          </p:cNvPr>
          <p:cNvPicPr>
            <a:picLocks noChangeAspect="1"/>
          </p:cNvPicPr>
          <p:nvPr/>
        </p:nvPicPr>
        <p:blipFill>
          <a:blip r:embed="rId5"/>
          <a:stretch>
            <a:fillRect/>
          </a:stretch>
        </p:blipFill>
        <p:spPr>
          <a:xfrm>
            <a:off x="5002622" y="2681782"/>
            <a:ext cx="3720099" cy="1961508"/>
          </a:xfrm>
          <a:prstGeom prst="rect">
            <a:avLst/>
          </a:prstGeom>
        </p:spPr>
      </p:pic>
    </p:spTree>
    <p:extLst>
      <p:ext uri="{BB962C8B-B14F-4D97-AF65-F5344CB8AC3E}">
        <p14:creationId xmlns:p14="http://schemas.microsoft.com/office/powerpoint/2010/main" val="859170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27917F-AE02-E0AD-86A8-A7D6207DFEB2}"/>
              </a:ext>
            </a:extLst>
          </p:cNvPr>
          <p:cNvSpPr txBox="1"/>
          <p:nvPr/>
        </p:nvSpPr>
        <p:spPr>
          <a:xfrm>
            <a:off x="274320" y="242192"/>
            <a:ext cx="861133" cy="369332"/>
          </a:xfrm>
          <a:prstGeom prst="rect">
            <a:avLst/>
          </a:prstGeom>
          <a:noFill/>
        </p:spPr>
        <p:txBody>
          <a:bodyPr wrap="none" rtlCol="0">
            <a:spAutoFit/>
          </a:bodyPr>
          <a:lstStyle/>
          <a:p>
            <a:r>
              <a:rPr lang="en-US" dirty="0">
                <a:solidFill>
                  <a:srgbClr val="C00000"/>
                </a:solidFill>
              </a:rPr>
              <a:t>Album:</a:t>
            </a:r>
            <a:endParaRPr lang="en-IN" dirty="0">
              <a:solidFill>
                <a:srgbClr val="C00000"/>
              </a:solidFill>
            </a:endParaRPr>
          </a:p>
        </p:txBody>
      </p:sp>
      <p:pic>
        <p:nvPicPr>
          <p:cNvPr id="6" name="Picture 5">
            <a:extLst>
              <a:ext uri="{FF2B5EF4-FFF2-40B4-BE49-F238E27FC236}">
                <a16:creationId xmlns:a16="http://schemas.microsoft.com/office/drawing/2014/main" id="{2CB57CFE-A7CC-92F1-3E49-18D2392D9C22}"/>
              </a:ext>
            </a:extLst>
          </p:cNvPr>
          <p:cNvPicPr>
            <a:picLocks noChangeAspect="1"/>
          </p:cNvPicPr>
          <p:nvPr/>
        </p:nvPicPr>
        <p:blipFill>
          <a:blip r:embed="rId2"/>
          <a:stretch>
            <a:fillRect/>
          </a:stretch>
        </p:blipFill>
        <p:spPr>
          <a:xfrm>
            <a:off x="328803" y="611524"/>
            <a:ext cx="4357102" cy="952500"/>
          </a:xfrm>
          <a:prstGeom prst="rect">
            <a:avLst/>
          </a:prstGeom>
        </p:spPr>
      </p:pic>
      <p:sp>
        <p:nvSpPr>
          <p:cNvPr id="7" name="TextBox 6">
            <a:extLst>
              <a:ext uri="{FF2B5EF4-FFF2-40B4-BE49-F238E27FC236}">
                <a16:creationId xmlns:a16="http://schemas.microsoft.com/office/drawing/2014/main" id="{25C4044B-F421-A216-0EB5-AC5D395D096D}"/>
              </a:ext>
            </a:extLst>
          </p:cNvPr>
          <p:cNvSpPr txBox="1"/>
          <p:nvPr/>
        </p:nvSpPr>
        <p:spPr>
          <a:xfrm>
            <a:off x="5147023" y="372794"/>
            <a:ext cx="754374" cy="369332"/>
          </a:xfrm>
          <a:prstGeom prst="rect">
            <a:avLst/>
          </a:prstGeom>
          <a:noFill/>
        </p:spPr>
        <p:txBody>
          <a:bodyPr wrap="none" rtlCol="0">
            <a:spAutoFit/>
          </a:bodyPr>
          <a:lstStyle/>
          <a:p>
            <a:r>
              <a:rPr lang="en-US" dirty="0">
                <a:solidFill>
                  <a:srgbClr val="C00000"/>
                </a:solidFill>
              </a:rPr>
              <a:t>Artist:</a:t>
            </a:r>
            <a:endParaRPr lang="en-IN" dirty="0">
              <a:solidFill>
                <a:srgbClr val="C00000"/>
              </a:solidFill>
            </a:endParaRPr>
          </a:p>
        </p:txBody>
      </p:sp>
      <p:pic>
        <p:nvPicPr>
          <p:cNvPr id="9" name="Picture 8">
            <a:extLst>
              <a:ext uri="{FF2B5EF4-FFF2-40B4-BE49-F238E27FC236}">
                <a16:creationId xmlns:a16="http://schemas.microsoft.com/office/drawing/2014/main" id="{4115947D-A031-5B53-6455-FCD381E71B8E}"/>
              </a:ext>
            </a:extLst>
          </p:cNvPr>
          <p:cNvPicPr>
            <a:picLocks noChangeAspect="1"/>
          </p:cNvPicPr>
          <p:nvPr/>
        </p:nvPicPr>
        <p:blipFill>
          <a:blip r:embed="rId3"/>
          <a:stretch>
            <a:fillRect/>
          </a:stretch>
        </p:blipFill>
        <p:spPr>
          <a:xfrm>
            <a:off x="5003408" y="742126"/>
            <a:ext cx="3770948" cy="781050"/>
          </a:xfrm>
          <a:prstGeom prst="rect">
            <a:avLst/>
          </a:prstGeom>
        </p:spPr>
      </p:pic>
      <p:sp>
        <p:nvSpPr>
          <p:cNvPr id="10" name="TextBox 9">
            <a:extLst>
              <a:ext uri="{FF2B5EF4-FFF2-40B4-BE49-F238E27FC236}">
                <a16:creationId xmlns:a16="http://schemas.microsoft.com/office/drawing/2014/main" id="{8F872E95-4F4F-E93E-D06C-C450F681705B}"/>
              </a:ext>
            </a:extLst>
          </p:cNvPr>
          <p:cNvSpPr txBox="1"/>
          <p:nvPr/>
        </p:nvSpPr>
        <p:spPr>
          <a:xfrm>
            <a:off x="323270" y="1695925"/>
            <a:ext cx="733086" cy="369332"/>
          </a:xfrm>
          <a:prstGeom prst="rect">
            <a:avLst/>
          </a:prstGeom>
          <a:noFill/>
        </p:spPr>
        <p:txBody>
          <a:bodyPr wrap="none" rtlCol="0">
            <a:spAutoFit/>
          </a:bodyPr>
          <a:lstStyle/>
          <a:p>
            <a:r>
              <a:rPr lang="en-US" dirty="0">
                <a:solidFill>
                  <a:srgbClr val="C00000"/>
                </a:solidFill>
              </a:rPr>
              <a:t>Track:</a:t>
            </a:r>
            <a:endParaRPr lang="en-IN" dirty="0">
              <a:solidFill>
                <a:srgbClr val="C00000"/>
              </a:solidFill>
            </a:endParaRPr>
          </a:p>
        </p:txBody>
      </p:sp>
      <p:pic>
        <p:nvPicPr>
          <p:cNvPr id="12" name="Picture 11">
            <a:extLst>
              <a:ext uri="{FF2B5EF4-FFF2-40B4-BE49-F238E27FC236}">
                <a16:creationId xmlns:a16="http://schemas.microsoft.com/office/drawing/2014/main" id="{0380BAE3-AB17-BA87-1F9F-17FA21956332}"/>
              </a:ext>
            </a:extLst>
          </p:cNvPr>
          <p:cNvPicPr>
            <a:picLocks noChangeAspect="1"/>
          </p:cNvPicPr>
          <p:nvPr/>
        </p:nvPicPr>
        <p:blipFill>
          <a:blip r:embed="rId4"/>
          <a:stretch>
            <a:fillRect/>
          </a:stretch>
        </p:blipFill>
        <p:spPr>
          <a:xfrm>
            <a:off x="330082" y="2110813"/>
            <a:ext cx="4357102" cy="1658201"/>
          </a:xfrm>
          <a:prstGeom prst="rect">
            <a:avLst/>
          </a:prstGeom>
        </p:spPr>
      </p:pic>
      <p:sp>
        <p:nvSpPr>
          <p:cNvPr id="13" name="TextBox 12">
            <a:extLst>
              <a:ext uri="{FF2B5EF4-FFF2-40B4-BE49-F238E27FC236}">
                <a16:creationId xmlns:a16="http://schemas.microsoft.com/office/drawing/2014/main" id="{BEF43395-9E3F-31F2-000D-0D756FA8AE05}"/>
              </a:ext>
            </a:extLst>
          </p:cNvPr>
          <p:cNvSpPr txBox="1"/>
          <p:nvPr/>
        </p:nvSpPr>
        <p:spPr>
          <a:xfrm>
            <a:off x="5147023" y="1707842"/>
            <a:ext cx="912879" cy="369332"/>
          </a:xfrm>
          <a:prstGeom prst="rect">
            <a:avLst/>
          </a:prstGeom>
          <a:noFill/>
        </p:spPr>
        <p:txBody>
          <a:bodyPr wrap="none" rtlCol="0">
            <a:spAutoFit/>
          </a:bodyPr>
          <a:lstStyle/>
          <a:p>
            <a:r>
              <a:rPr lang="en-US" dirty="0">
                <a:solidFill>
                  <a:srgbClr val="C00000"/>
                </a:solidFill>
              </a:rPr>
              <a:t>Invoice:</a:t>
            </a:r>
            <a:endParaRPr lang="en-IN" dirty="0">
              <a:solidFill>
                <a:srgbClr val="C00000"/>
              </a:solidFill>
            </a:endParaRPr>
          </a:p>
        </p:txBody>
      </p:sp>
      <p:pic>
        <p:nvPicPr>
          <p:cNvPr id="15" name="Picture 14">
            <a:extLst>
              <a:ext uri="{FF2B5EF4-FFF2-40B4-BE49-F238E27FC236}">
                <a16:creationId xmlns:a16="http://schemas.microsoft.com/office/drawing/2014/main" id="{17560033-1B7F-8801-3458-55C6D768FDE5}"/>
              </a:ext>
            </a:extLst>
          </p:cNvPr>
          <p:cNvPicPr>
            <a:picLocks noChangeAspect="1"/>
          </p:cNvPicPr>
          <p:nvPr/>
        </p:nvPicPr>
        <p:blipFill>
          <a:blip r:embed="rId5"/>
          <a:stretch>
            <a:fillRect/>
          </a:stretch>
        </p:blipFill>
        <p:spPr>
          <a:xfrm>
            <a:off x="5003408" y="2096745"/>
            <a:ext cx="3999915" cy="1714679"/>
          </a:xfrm>
          <a:prstGeom prst="rect">
            <a:avLst/>
          </a:prstGeom>
        </p:spPr>
      </p:pic>
      <p:sp>
        <p:nvSpPr>
          <p:cNvPr id="16" name="TextBox 15">
            <a:extLst>
              <a:ext uri="{FF2B5EF4-FFF2-40B4-BE49-F238E27FC236}">
                <a16:creationId xmlns:a16="http://schemas.microsoft.com/office/drawing/2014/main" id="{85A0E248-6519-3964-6724-9A6A61AFB594}"/>
              </a:ext>
            </a:extLst>
          </p:cNvPr>
          <p:cNvSpPr txBox="1"/>
          <p:nvPr/>
        </p:nvSpPr>
        <p:spPr>
          <a:xfrm>
            <a:off x="323270" y="3827870"/>
            <a:ext cx="1300805" cy="369332"/>
          </a:xfrm>
          <a:prstGeom prst="rect">
            <a:avLst/>
          </a:prstGeom>
          <a:noFill/>
        </p:spPr>
        <p:txBody>
          <a:bodyPr wrap="none" rtlCol="0">
            <a:spAutoFit/>
          </a:bodyPr>
          <a:lstStyle/>
          <a:p>
            <a:r>
              <a:rPr lang="en-US" dirty="0" err="1">
                <a:solidFill>
                  <a:srgbClr val="C00000"/>
                </a:solidFill>
              </a:rPr>
              <a:t>InvoiceLine</a:t>
            </a:r>
            <a:r>
              <a:rPr lang="en-US" dirty="0">
                <a:solidFill>
                  <a:srgbClr val="C00000"/>
                </a:solidFill>
              </a:rPr>
              <a:t>:</a:t>
            </a:r>
            <a:endParaRPr lang="en-IN" dirty="0">
              <a:solidFill>
                <a:srgbClr val="C00000"/>
              </a:solidFill>
            </a:endParaRPr>
          </a:p>
        </p:txBody>
      </p:sp>
      <p:pic>
        <p:nvPicPr>
          <p:cNvPr id="18" name="Picture 17">
            <a:extLst>
              <a:ext uri="{FF2B5EF4-FFF2-40B4-BE49-F238E27FC236}">
                <a16:creationId xmlns:a16="http://schemas.microsoft.com/office/drawing/2014/main" id="{21BD2BD3-AD65-A3B3-FDF6-902432728EF3}"/>
              </a:ext>
            </a:extLst>
          </p:cNvPr>
          <p:cNvPicPr>
            <a:picLocks noChangeAspect="1"/>
          </p:cNvPicPr>
          <p:nvPr/>
        </p:nvPicPr>
        <p:blipFill>
          <a:blip r:embed="rId6"/>
          <a:stretch>
            <a:fillRect/>
          </a:stretch>
        </p:blipFill>
        <p:spPr>
          <a:xfrm>
            <a:off x="323270" y="4163116"/>
            <a:ext cx="4589915" cy="891567"/>
          </a:xfrm>
          <a:prstGeom prst="rect">
            <a:avLst/>
          </a:prstGeom>
        </p:spPr>
      </p:pic>
      <p:sp>
        <p:nvSpPr>
          <p:cNvPr id="19" name="TextBox 18">
            <a:extLst>
              <a:ext uri="{FF2B5EF4-FFF2-40B4-BE49-F238E27FC236}">
                <a16:creationId xmlns:a16="http://schemas.microsoft.com/office/drawing/2014/main" id="{692D609E-683E-E815-DD95-87EECA447533}"/>
              </a:ext>
            </a:extLst>
          </p:cNvPr>
          <p:cNvSpPr txBox="1"/>
          <p:nvPr/>
        </p:nvSpPr>
        <p:spPr>
          <a:xfrm>
            <a:off x="5229409" y="3811424"/>
            <a:ext cx="944041" cy="369332"/>
          </a:xfrm>
          <a:prstGeom prst="rect">
            <a:avLst/>
          </a:prstGeom>
          <a:noFill/>
        </p:spPr>
        <p:txBody>
          <a:bodyPr wrap="none" rtlCol="0">
            <a:spAutoFit/>
          </a:bodyPr>
          <a:lstStyle/>
          <a:p>
            <a:r>
              <a:rPr lang="en-US" dirty="0" err="1">
                <a:solidFill>
                  <a:srgbClr val="C00000"/>
                </a:solidFill>
              </a:rPr>
              <a:t>PlayList</a:t>
            </a:r>
            <a:r>
              <a:rPr lang="en-US" dirty="0">
                <a:solidFill>
                  <a:srgbClr val="C00000"/>
                </a:solidFill>
              </a:rPr>
              <a:t>:</a:t>
            </a:r>
            <a:endParaRPr lang="en-IN" dirty="0">
              <a:solidFill>
                <a:srgbClr val="C00000"/>
              </a:solidFill>
            </a:endParaRPr>
          </a:p>
        </p:txBody>
      </p:sp>
      <p:pic>
        <p:nvPicPr>
          <p:cNvPr id="21" name="Picture 20">
            <a:extLst>
              <a:ext uri="{FF2B5EF4-FFF2-40B4-BE49-F238E27FC236}">
                <a16:creationId xmlns:a16="http://schemas.microsoft.com/office/drawing/2014/main" id="{24FE12CD-8972-3C94-6AF7-F53C60577F41}"/>
              </a:ext>
            </a:extLst>
          </p:cNvPr>
          <p:cNvPicPr>
            <a:picLocks noChangeAspect="1"/>
          </p:cNvPicPr>
          <p:nvPr/>
        </p:nvPicPr>
        <p:blipFill>
          <a:blip r:embed="rId7"/>
          <a:stretch>
            <a:fillRect/>
          </a:stretch>
        </p:blipFill>
        <p:spPr>
          <a:xfrm>
            <a:off x="5147023" y="4245058"/>
            <a:ext cx="3857699" cy="809625"/>
          </a:xfrm>
          <a:prstGeom prst="rect">
            <a:avLst/>
          </a:prstGeom>
        </p:spPr>
      </p:pic>
    </p:spTree>
    <p:extLst>
      <p:ext uri="{BB962C8B-B14F-4D97-AF65-F5344CB8AC3E}">
        <p14:creationId xmlns:p14="http://schemas.microsoft.com/office/powerpoint/2010/main" val="195324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09728"/>
            <a:ext cx="4572000" cy="548640"/>
          </a:xfrm>
          <a:prstGeom prst="rect">
            <a:avLst/>
          </a:prstGeom>
          <a:noFill/>
          <a:ln/>
        </p:spPr>
        <p:txBody>
          <a:bodyPr wrap="square" rtlCol="0" anchor="ctr"/>
          <a:lstStyle/>
          <a:p>
            <a:pPr marL="0" indent="0">
              <a:buNone/>
            </a:pPr>
            <a:r>
              <a:rPr lang="en-US" sz="2400" b="1" dirty="0">
                <a:solidFill>
                  <a:srgbClr val="CC0000"/>
                </a:solidFill>
                <a:latin typeface="Cambria" pitchFamily="34" charset="0"/>
                <a:ea typeface="Cambria" pitchFamily="34" charset="-122"/>
                <a:cs typeface="Cambria" pitchFamily="34" charset="-120"/>
              </a:rPr>
              <a:t>ii. ER Diagram</a:t>
            </a:r>
            <a:endParaRPr lang="en-US" sz="2400" dirty="0"/>
          </a:p>
        </p:txBody>
      </p:sp>
      <p:sp>
        <p:nvSpPr>
          <p:cNvPr id="4" name="Text 2"/>
          <p:cNvSpPr/>
          <p:nvPr/>
        </p:nvSpPr>
        <p:spPr>
          <a:xfrm>
            <a:off x="365760" y="640080"/>
            <a:ext cx="5486400" cy="292608"/>
          </a:xfrm>
          <a:prstGeom prst="rect">
            <a:avLst/>
          </a:prstGeom>
          <a:noFill/>
          <a:ln/>
        </p:spPr>
        <p:txBody>
          <a:bodyPr wrap="square" rtlCol="0" anchor="ctr"/>
          <a:lstStyle/>
          <a:p>
            <a:pPr marL="0" indent="0">
              <a:buNone/>
            </a:pPr>
            <a:r>
              <a:rPr lang="en-US" sz="1300" dirty="0">
                <a:solidFill>
                  <a:srgbClr val="444444"/>
                </a:solidFill>
                <a:latin typeface="Calibri" pitchFamily="34" charset="0"/>
                <a:ea typeface="Calibri" pitchFamily="34" charset="-122"/>
                <a:cs typeface="Calibri" pitchFamily="34" charset="-120"/>
              </a:rPr>
              <a:t>Database Schema — 11 Interrelated Tables</a:t>
            </a:r>
            <a:endParaRPr lang="en-US" sz="1300" dirty="0"/>
          </a:p>
        </p:txBody>
      </p:sp>
      <p:sp>
        <p:nvSpPr>
          <p:cNvPr id="7" name="Text 4"/>
          <p:cNvSpPr/>
          <p:nvPr/>
        </p:nvSpPr>
        <p:spPr>
          <a:xfrm>
            <a:off x="6263640" y="1005840"/>
            <a:ext cx="2743200" cy="347472"/>
          </a:xfrm>
          <a:prstGeom prst="rect">
            <a:avLst/>
          </a:prstGeom>
          <a:noFill/>
          <a:ln/>
        </p:spPr>
        <p:txBody>
          <a:bodyPr wrap="square" rtlCol="0" anchor="ctr"/>
          <a:lstStyle/>
          <a:p>
            <a:pPr marL="0" indent="0" algn="ctr">
              <a:buNone/>
            </a:pPr>
            <a:endParaRPr lang="en-US" sz="1200" dirty="0"/>
          </a:p>
        </p:txBody>
      </p:sp>
      <p:sp>
        <p:nvSpPr>
          <p:cNvPr id="9" name="Text 6"/>
          <p:cNvSpPr/>
          <p:nvPr/>
        </p:nvSpPr>
        <p:spPr>
          <a:xfrm>
            <a:off x="6446520" y="1444752"/>
            <a:ext cx="2377440" cy="402336"/>
          </a:xfrm>
          <a:prstGeom prst="rect">
            <a:avLst/>
          </a:prstGeom>
          <a:noFill/>
          <a:ln/>
        </p:spPr>
        <p:txBody>
          <a:bodyPr wrap="square" rtlCol="0" anchor="ctr"/>
          <a:lstStyle/>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p>
        </p:txBody>
      </p:sp>
      <p:sp>
        <p:nvSpPr>
          <p:cNvPr id="11" name="Text 8"/>
          <p:cNvSpPr/>
          <p:nvPr/>
        </p:nvSpPr>
        <p:spPr>
          <a:xfrm>
            <a:off x="6446520" y="1947672"/>
            <a:ext cx="2377440" cy="402336"/>
          </a:xfrm>
          <a:prstGeom prst="rect">
            <a:avLst/>
          </a:prstGeom>
          <a:noFill/>
          <a:ln/>
        </p:spPr>
        <p:txBody>
          <a:bodyPr wrap="square" rtlCol="0" anchor="ctr"/>
          <a:lstStyle/>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p>
        </p:txBody>
      </p:sp>
      <p:sp>
        <p:nvSpPr>
          <p:cNvPr id="13" name="Text 10"/>
          <p:cNvSpPr/>
          <p:nvPr/>
        </p:nvSpPr>
        <p:spPr>
          <a:xfrm>
            <a:off x="6400800" y="2446899"/>
            <a:ext cx="2377440" cy="402336"/>
          </a:xfrm>
          <a:prstGeom prst="rect">
            <a:avLst/>
          </a:prstGeom>
          <a:noFill/>
          <a:ln/>
        </p:spPr>
        <p:txBody>
          <a:bodyPr wrap="square" rtlCol="0" anchor="ctr"/>
          <a:lstStyle/>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a:p>
            <a:endParaRPr lang="en-US" sz="1200" dirty="0"/>
          </a:p>
          <a:p>
            <a:pPr marL="0" indent="0">
              <a:buNone/>
            </a:pPr>
            <a:endParaRPr lang="en-US" sz="900" dirty="0"/>
          </a:p>
        </p:txBody>
      </p:sp>
      <p:sp>
        <p:nvSpPr>
          <p:cNvPr id="15" name="Text 12"/>
          <p:cNvSpPr/>
          <p:nvPr/>
        </p:nvSpPr>
        <p:spPr>
          <a:xfrm>
            <a:off x="6446520" y="2953512"/>
            <a:ext cx="2377440" cy="402336"/>
          </a:xfrm>
          <a:prstGeom prst="rect">
            <a:avLst/>
          </a:prstGeom>
          <a:noFill/>
          <a:ln/>
        </p:spPr>
        <p:txBody>
          <a:bodyPr wrap="square" rtlCol="0" anchor="ctr"/>
          <a:lstStyle/>
          <a:p>
            <a:pPr marL="0" indent="0">
              <a:buNone/>
            </a:pPr>
            <a:endParaRPr lang="en-US" sz="900" dirty="0">
              <a:solidFill>
                <a:srgbClr val="1A1A1A"/>
              </a:solidFill>
              <a:latin typeface="Calibri" pitchFamily="34" charset="0"/>
              <a:ea typeface="Calibri" pitchFamily="34" charset="-122"/>
              <a:cs typeface="Calibri" pitchFamily="34" charset="-120"/>
            </a:endParaRPr>
          </a:p>
          <a:p>
            <a:pPr marL="0" indent="0">
              <a:buNone/>
            </a:pPr>
            <a:endParaRPr lang="en-US" sz="900" dirty="0">
              <a:solidFill>
                <a:srgbClr val="1A1A1A"/>
              </a:solidFill>
              <a:latin typeface="Calibri" pitchFamily="34" charset="0"/>
              <a:ea typeface="Calibri" pitchFamily="34" charset="-122"/>
              <a:cs typeface="Calibri" pitchFamily="34" charset="-120"/>
            </a:endParaRPr>
          </a:p>
        </p:txBody>
      </p:sp>
      <p:sp>
        <p:nvSpPr>
          <p:cNvPr id="17" name="Text 14"/>
          <p:cNvSpPr/>
          <p:nvPr/>
        </p:nvSpPr>
        <p:spPr>
          <a:xfrm>
            <a:off x="6446520" y="3456432"/>
            <a:ext cx="2377440" cy="402336"/>
          </a:xfrm>
          <a:prstGeom prst="rect">
            <a:avLst/>
          </a:prstGeom>
          <a:noFill/>
          <a:ln/>
        </p:spPr>
        <p:txBody>
          <a:bodyPr wrap="square" rtlCol="0" anchor="ctr"/>
          <a:lstStyle/>
          <a:p>
            <a:pPr marL="0" indent="0">
              <a:buNone/>
            </a:pPr>
            <a:endParaRPr lang="en-US" sz="1200" dirty="0"/>
          </a:p>
        </p:txBody>
      </p:sp>
      <p:sp>
        <p:nvSpPr>
          <p:cNvPr id="19" name="Text 16"/>
          <p:cNvSpPr/>
          <p:nvPr/>
        </p:nvSpPr>
        <p:spPr>
          <a:xfrm>
            <a:off x="6446520" y="3959352"/>
            <a:ext cx="2377440" cy="402336"/>
          </a:xfrm>
          <a:prstGeom prst="rect">
            <a:avLst/>
          </a:prstGeom>
          <a:noFill/>
          <a:ln/>
        </p:spPr>
        <p:txBody>
          <a:bodyPr wrap="square" rtlCol="0" anchor="ctr"/>
          <a:lstStyle/>
          <a:p>
            <a:pPr marL="0" indent="0">
              <a:buNone/>
            </a:pPr>
            <a:endParaRPr lang="en-US" sz="1200" dirty="0"/>
          </a:p>
        </p:txBody>
      </p:sp>
      <p:pic>
        <p:nvPicPr>
          <p:cNvPr id="20" name="Picture 19">
            <a:extLst>
              <a:ext uri="{FF2B5EF4-FFF2-40B4-BE49-F238E27FC236}">
                <a16:creationId xmlns:a16="http://schemas.microsoft.com/office/drawing/2014/main" id="{8D7BACA3-AD61-D74C-490A-6F6E56FDCE7A}"/>
              </a:ext>
            </a:extLst>
          </p:cNvPr>
          <p:cNvPicPr>
            <a:picLocks noChangeAspect="1"/>
          </p:cNvPicPr>
          <p:nvPr/>
        </p:nvPicPr>
        <p:blipFill>
          <a:blip r:embed="rId3"/>
          <a:stretch>
            <a:fillRect/>
          </a:stretch>
        </p:blipFill>
        <p:spPr>
          <a:xfrm>
            <a:off x="1" y="932688"/>
            <a:ext cx="9144000" cy="37659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2">
            <a:extLst>
              <a:ext uri="{FF2B5EF4-FFF2-40B4-BE49-F238E27FC236}">
                <a16:creationId xmlns:a16="http://schemas.microsoft.com/office/drawing/2014/main" id="{29C164D0-F0F8-F59D-B455-EDF209C1FC4D}"/>
              </a:ext>
            </a:extLst>
          </p:cNvPr>
          <p:cNvSpPr/>
          <p:nvPr/>
        </p:nvSpPr>
        <p:spPr>
          <a:xfrm>
            <a:off x="492368" y="710419"/>
            <a:ext cx="7617655" cy="3903785"/>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dirty="0"/>
          </a:p>
        </p:txBody>
      </p:sp>
      <p:sp>
        <p:nvSpPr>
          <p:cNvPr id="6" name="Title 5">
            <a:extLst>
              <a:ext uri="{FF2B5EF4-FFF2-40B4-BE49-F238E27FC236}">
                <a16:creationId xmlns:a16="http://schemas.microsoft.com/office/drawing/2014/main" id="{2C376064-16F8-74A5-D53A-F41EC42127E1}"/>
              </a:ext>
            </a:extLst>
          </p:cNvPr>
          <p:cNvSpPr>
            <a:spLocks noGrp="1"/>
          </p:cNvSpPr>
          <p:nvPr>
            <p:ph type="title"/>
          </p:nvPr>
        </p:nvSpPr>
        <p:spPr>
          <a:xfrm>
            <a:off x="628650" y="273844"/>
            <a:ext cx="7886700" cy="654624"/>
          </a:xfrm>
        </p:spPr>
        <p:txBody>
          <a:bodyPr>
            <a:normAutofit fontScale="90000"/>
          </a:bodyPr>
          <a:lstStyle/>
          <a:p>
            <a:br>
              <a:rPr lang="en-US" sz="2700" b="1" dirty="0">
                <a:solidFill>
                  <a:srgbClr val="CC0000"/>
                </a:solidFill>
                <a:latin typeface="Calibri" pitchFamily="34" charset="0"/>
                <a:ea typeface="Calibri" pitchFamily="34" charset="-122"/>
                <a:cs typeface="Calibri" pitchFamily="34" charset="-120"/>
              </a:rPr>
            </a:br>
            <a:r>
              <a:rPr lang="en-US" sz="2700" b="1" dirty="0">
                <a:solidFill>
                  <a:srgbClr val="CC0000"/>
                </a:solidFill>
                <a:latin typeface="Calibri" pitchFamily="34" charset="0"/>
                <a:ea typeface="Calibri" pitchFamily="34" charset="-122"/>
                <a:cs typeface="Calibri" pitchFamily="34" charset="-120"/>
              </a:rPr>
              <a:t>iii. Key Relationships :</a:t>
            </a:r>
            <a:br>
              <a:rPr lang="en-US" dirty="0"/>
            </a:br>
            <a:endParaRPr lang="en-IN" dirty="0"/>
          </a:p>
        </p:txBody>
      </p:sp>
      <p:sp>
        <p:nvSpPr>
          <p:cNvPr id="8" name="Shape 5">
            <a:extLst>
              <a:ext uri="{FF2B5EF4-FFF2-40B4-BE49-F238E27FC236}">
                <a16:creationId xmlns:a16="http://schemas.microsoft.com/office/drawing/2014/main" id="{B0695DE1-A71C-4163-7F92-FF3F2811A50E}"/>
              </a:ext>
            </a:extLst>
          </p:cNvPr>
          <p:cNvSpPr/>
          <p:nvPr/>
        </p:nvSpPr>
        <p:spPr>
          <a:xfrm>
            <a:off x="1058594" y="1117744"/>
            <a:ext cx="2468880"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Artist→ Album(1:M)</a:t>
            </a:r>
            <a:endParaRPr lang="en-IN" sz="1200" dirty="0"/>
          </a:p>
        </p:txBody>
      </p:sp>
      <p:sp>
        <p:nvSpPr>
          <p:cNvPr id="10" name="Shape 5">
            <a:extLst>
              <a:ext uri="{FF2B5EF4-FFF2-40B4-BE49-F238E27FC236}">
                <a16:creationId xmlns:a16="http://schemas.microsoft.com/office/drawing/2014/main" id="{100EA22A-BC19-E0A3-2653-91BC5E41F166}"/>
              </a:ext>
            </a:extLst>
          </p:cNvPr>
          <p:cNvSpPr/>
          <p:nvPr/>
        </p:nvSpPr>
        <p:spPr>
          <a:xfrm>
            <a:off x="1058594" y="1852671"/>
            <a:ext cx="2468880"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Album→ Track (1:M)</a:t>
            </a:r>
            <a:endParaRPr lang="en-US" sz="1200" dirty="0"/>
          </a:p>
        </p:txBody>
      </p:sp>
      <p:sp>
        <p:nvSpPr>
          <p:cNvPr id="12" name="Shape 5">
            <a:extLst>
              <a:ext uri="{FF2B5EF4-FFF2-40B4-BE49-F238E27FC236}">
                <a16:creationId xmlns:a16="http://schemas.microsoft.com/office/drawing/2014/main" id="{E08E0D3B-F298-343C-A65B-A6E270C7CF5E}"/>
              </a:ext>
            </a:extLst>
          </p:cNvPr>
          <p:cNvSpPr/>
          <p:nvPr/>
        </p:nvSpPr>
        <p:spPr>
          <a:xfrm>
            <a:off x="1072662" y="2533492"/>
            <a:ext cx="2468880"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Genre → Track (1:M</a:t>
            </a:r>
            <a:r>
              <a:rPr lang="en-IN" sz="1200" dirty="0">
                <a:solidFill>
                  <a:srgbClr val="1A1A1A"/>
                </a:solidFill>
                <a:latin typeface="Calibri" pitchFamily="34" charset="0"/>
                <a:ea typeface="Calibri" pitchFamily="34" charset="-122"/>
                <a:cs typeface="Calibri" pitchFamily="34" charset="-120"/>
              </a:rPr>
              <a:t>)</a:t>
            </a:r>
            <a:endParaRPr lang="en-US" sz="1200" dirty="0">
              <a:solidFill>
                <a:srgbClr val="1A1A1A"/>
              </a:solidFill>
              <a:latin typeface="Calibri" pitchFamily="34" charset="0"/>
              <a:ea typeface="Calibri" pitchFamily="34" charset="-122"/>
              <a:cs typeface="Calibri" pitchFamily="34" charset="-120"/>
            </a:endParaRPr>
          </a:p>
        </p:txBody>
      </p:sp>
      <p:sp>
        <p:nvSpPr>
          <p:cNvPr id="14" name="Shape 7">
            <a:extLst>
              <a:ext uri="{FF2B5EF4-FFF2-40B4-BE49-F238E27FC236}">
                <a16:creationId xmlns:a16="http://schemas.microsoft.com/office/drawing/2014/main" id="{808143B9-DE85-22EB-564F-7C5622E41175}"/>
              </a:ext>
            </a:extLst>
          </p:cNvPr>
          <p:cNvSpPr/>
          <p:nvPr/>
        </p:nvSpPr>
        <p:spPr>
          <a:xfrm>
            <a:off x="1072662" y="3206191"/>
            <a:ext cx="2468880"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MediaType → Track(1:M)</a:t>
            </a:r>
            <a:endParaRPr lang="en-IN" sz="1200" dirty="0"/>
          </a:p>
        </p:txBody>
      </p:sp>
      <p:sp>
        <p:nvSpPr>
          <p:cNvPr id="16" name="Shape 9">
            <a:extLst>
              <a:ext uri="{FF2B5EF4-FFF2-40B4-BE49-F238E27FC236}">
                <a16:creationId xmlns:a16="http://schemas.microsoft.com/office/drawing/2014/main" id="{973FB24C-C50A-751E-174F-A27CD897849B}"/>
              </a:ext>
            </a:extLst>
          </p:cNvPr>
          <p:cNvSpPr/>
          <p:nvPr/>
        </p:nvSpPr>
        <p:spPr>
          <a:xfrm>
            <a:off x="1072661" y="3850150"/>
            <a:ext cx="2468881"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Customer→ Invoice(1:M)</a:t>
            </a:r>
            <a:endParaRPr lang="en-US" sz="1200" dirty="0"/>
          </a:p>
        </p:txBody>
      </p:sp>
      <p:sp>
        <p:nvSpPr>
          <p:cNvPr id="18" name="Shape 11">
            <a:extLst>
              <a:ext uri="{FF2B5EF4-FFF2-40B4-BE49-F238E27FC236}">
                <a16:creationId xmlns:a16="http://schemas.microsoft.com/office/drawing/2014/main" id="{CD1EE196-77E0-DC26-A4D1-5ED1D4FF3635}"/>
              </a:ext>
            </a:extLst>
          </p:cNvPr>
          <p:cNvSpPr/>
          <p:nvPr/>
        </p:nvSpPr>
        <p:spPr>
          <a:xfrm>
            <a:off x="4473525" y="1117744"/>
            <a:ext cx="2468881" cy="458013"/>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Invoice </a:t>
            </a:r>
            <a:r>
              <a:rPr lang="en-US" sz="1200" dirty="0">
                <a:solidFill>
                  <a:srgbClr val="1A1A1A"/>
                </a:solidFill>
                <a:latin typeface="Calibri" pitchFamily="34" charset="0"/>
                <a:ea typeface="Calibri" pitchFamily="34" charset="-122"/>
                <a:cs typeface="Calibri" pitchFamily="34" charset="-120"/>
                <a:sym typeface="Wingdings" panose="05000000000000000000" pitchFamily="2" charset="2"/>
              </a:rPr>
              <a:t> </a:t>
            </a:r>
            <a:r>
              <a:rPr lang="en-US" sz="1200" dirty="0" err="1">
                <a:solidFill>
                  <a:srgbClr val="1A1A1A"/>
                </a:solidFill>
                <a:latin typeface="Calibri" pitchFamily="34" charset="0"/>
                <a:ea typeface="Calibri" pitchFamily="34" charset="-122"/>
                <a:cs typeface="Calibri" pitchFamily="34" charset="-120"/>
                <a:sym typeface="Wingdings" panose="05000000000000000000" pitchFamily="2" charset="2"/>
              </a:rPr>
              <a:t>InvoiceLine</a:t>
            </a:r>
            <a:r>
              <a:rPr lang="en-US" sz="1200" dirty="0">
                <a:solidFill>
                  <a:srgbClr val="1A1A1A"/>
                </a:solidFill>
                <a:latin typeface="Calibri" pitchFamily="34" charset="0"/>
                <a:ea typeface="Calibri" pitchFamily="34" charset="-122"/>
                <a:cs typeface="Calibri" pitchFamily="34" charset="-120"/>
                <a:sym typeface="Wingdings" panose="05000000000000000000" pitchFamily="2" charset="2"/>
              </a:rPr>
              <a:t>(1:M)</a:t>
            </a:r>
            <a:endParaRPr lang="en-US" sz="1200" dirty="0">
              <a:solidFill>
                <a:srgbClr val="1A1A1A"/>
              </a:solidFill>
              <a:latin typeface="Calibri" pitchFamily="34" charset="0"/>
              <a:ea typeface="Calibri" pitchFamily="34" charset="-122"/>
              <a:cs typeface="Calibri" pitchFamily="34" charset="-120"/>
            </a:endParaRPr>
          </a:p>
        </p:txBody>
      </p:sp>
      <p:sp>
        <p:nvSpPr>
          <p:cNvPr id="20" name="Shape 13">
            <a:extLst>
              <a:ext uri="{FF2B5EF4-FFF2-40B4-BE49-F238E27FC236}">
                <a16:creationId xmlns:a16="http://schemas.microsoft.com/office/drawing/2014/main" id="{B9D0A403-A1D4-FE53-1B4C-DBAF0EB8ECDB}"/>
              </a:ext>
            </a:extLst>
          </p:cNvPr>
          <p:cNvSpPr/>
          <p:nvPr/>
        </p:nvSpPr>
        <p:spPr>
          <a:xfrm>
            <a:off x="4473525" y="1852671"/>
            <a:ext cx="2468881"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Track→ </a:t>
            </a:r>
            <a:r>
              <a:rPr lang="en-US" sz="1200" dirty="0" err="1">
                <a:solidFill>
                  <a:srgbClr val="1A1A1A"/>
                </a:solidFill>
                <a:latin typeface="Calibri" pitchFamily="34" charset="0"/>
                <a:ea typeface="Calibri" pitchFamily="34" charset="-122"/>
                <a:cs typeface="Calibri" pitchFamily="34" charset="-120"/>
              </a:rPr>
              <a:t>InvoiceLine</a:t>
            </a:r>
            <a:r>
              <a:rPr lang="en-US" sz="1200" dirty="0">
                <a:solidFill>
                  <a:srgbClr val="1A1A1A"/>
                </a:solidFill>
                <a:latin typeface="Calibri" pitchFamily="34" charset="0"/>
                <a:ea typeface="Calibri" pitchFamily="34" charset="-122"/>
                <a:cs typeface="Calibri" pitchFamily="34" charset="-120"/>
              </a:rPr>
              <a:t>(1:M)</a:t>
            </a:r>
            <a:endParaRPr lang="en-US" sz="1200" dirty="0"/>
          </a:p>
        </p:txBody>
      </p:sp>
      <p:sp>
        <p:nvSpPr>
          <p:cNvPr id="22" name="Shape 15">
            <a:extLst>
              <a:ext uri="{FF2B5EF4-FFF2-40B4-BE49-F238E27FC236}">
                <a16:creationId xmlns:a16="http://schemas.microsoft.com/office/drawing/2014/main" id="{2D9DA578-1ECE-C4C5-6546-8ADF6032DCBA}"/>
              </a:ext>
            </a:extLst>
          </p:cNvPr>
          <p:cNvSpPr/>
          <p:nvPr/>
        </p:nvSpPr>
        <p:spPr>
          <a:xfrm>
            <a:off x="4473524" y="2533492"/>
            <a:ext cx="2468882"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Track→ </a:t>
            </a:r>
            <a:r>
              <a:rPr lang="en-US" sz="1200" dirty="0" err="1">
                <a:solidFill>
                  <a:srgbClr val="1A1A1A"/>
                </a:solidFill>
                <a:latin typeface="Calibri" pitchFamily="34" charset="0"/>
                <a:ea typeface="Calibri" pitchFamily="34" charset="-122"/>
                <a:cs typeface="Calibri" pitchFamily="34" charset="-120"/>
              </a:rPr>
              <a:t>PlaylistTrack</a:t>
            </a:r>
            <a:r>
              <a:rPr lang="en-US" sz="1200" dirty="0">
                <a:solidFill>
                  <a:srgbClr val="1A1A1A"/>
                </a:solidFill>
                <a:latin typeface="Calibri" pitchFamily="34" charset="0"/>
                <a:ea typeface="Calibri" pitchFamily="34" charset="-122"/>
                <a:cs typeface="Calibri" pitchFamily="34" charset="-120"/>
              </a:rPr>
              <a:t>(1:M)</a:t>
            </a:r>
            <a:endParaRPr lang="en-US" sz="1200" dirty="0"/>
          </a:p>
        </p:txBody>
      </p:sp>
      <p:sp>
        <p:nvSpPr>
          <p:cNvPr id="24" name="Shape 13">
            <a:extLst>
              <a:ext uri="{FF2B5EF4-FFF2-40B4-BE49-F238E27FC236}">
                <a16:creationId xmlns:a16="http://schemas.microsoft.com/office/drawing/2014/main" id="{66D31834-2373-7123-2D3C-CB1FFF3467EF}"/>
              </a:ext>
            </a:extLst>
          </p:cNvPr>
          <p:cNvSpPr/>
          <p:nvPr/>
        </p:nvSpPr>
        <p:spPr>
          <a:xfrm>
            <a:off x="4473523" y="3165408"/>
            <a:ext cx="2468881" cy="402336"/>
          </a:xfrm>
          <a:prstGeom prst="roundRect">
            <a:avLst>
              <a:gd name="adj" fmla="val 15909"/>
            </a:avLst>
          </a:prstGeom>
          <a:solidFill>
            <a:srgbClr val="FFFFFF"/>
          </a:solidFill>
          <a:ln w="12700">
            <a:solidFill>
              <a:srgbClr val="E0E0E0"/>
            </a:solidFill>
            <a:prstDash val="solid"/>
          </a:ln>
        </p:spPr>
        <p:txBody>
          <a:bodyPr/>
          <a:lstStyle/>
          <a:p>
            <a:r>
              <a:rPr lang="en-US" sz="1200" dirty="0">
                <a:solidFill>
                  <a:srgbClr val="1A1A1A"/>
                </a:solidFill>
                <a:latin typeface="Calibri" pitchFamily="34" charset="0"/>
                <a:ea typeface="Calibri" pitchFamily="34" charset="-122"/>
                <a:cs typeface="Calibri" pitchFamily="34" charset="-120"/>
              </a:rPr>
              <a:t>Employee→ Customer(1:M)</a:t>
            </a:r>
            <a:endParaRPr lang="en-US" sz="1200" dirty="0"/>
          </a:p>
        </p:txBody>
      </p:sp>
    </p:spTree>
    <p:extLst>
      <p:ext uri="{BB962C8B-B14F-4D97-AF65-F5344CB8AC3E}">
        <p14:creationId xmlns:p14="http://schemas.microsoft.com/office/powerpoint/2010/main" val="1001002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74320" y="164592"/>
            <a:ext cx="137160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 CASE 1.1</a:t>
            </a:r>
            <a:endParaRPr lang="en-US" sz="900" dirty="0"/>
          </a:p>
        </p:txBody>
      </p:sp>
      <p:sp>
        <p:nvSpPr>
          <p:cNvPr id="5" name="Text 3"/>
          <p:cNvSpPr/>
          <p:nvPr/>
        </p:nvSpPr>
        <p:spPr>
          <a:xfrm>
            <a:off x="297002" y="172756"/>
            <a:ext cx="7040880" cy="347472"/>
          </a:xfrm>
          <a:prstGeom prst="rect">
            <a:avLst/>
          </a:prstGeom>
          <a:noFill/>
          <a:ln/>
        </p:spPr>
        <p:txBody>
          <a:bodyPr wrap="square" rtlCol="0" anchor="ctr"/>
          <a:lstStyle/>
          <a:p>
            <a:endParaRPr lang="en-US" sz="1100" dirty="0">
              <a:solidFill>
                <a:srgbClr val="555555"/>
              </a:solidFill>
              <a:latin typeface="Calibri" pitchFamily="34" charset="0"/>
              <a:ea typeface="Calibri" pitchFamily="34" charset="-122"/>
              <a:cs typeface="Calibri" pitchFamily="34" charset="-120"/>
            </a:endParaRPr>
          </a:p>
          <a:p>
            <a:r>
              <a:rPr lang="en-US" sz="1100" dirty="0">
                <a:solidFill>
                  <a:srgbClr val="555555"/>
                </a:solidFill>
                <a:latin typeface="Calibri" pitchFamily="34" charset="0"/>
                <a:ea typeface="Calibri" pitchFamily="34" charset="-122"/>
                <a:cs typeface="Calibri" pitchFamily="34" charset="-120"/>
              </a:rPr>
              <a:t>Queries and Insights</a:t>
            </a:r>
            <a:endParaRPr lang="en-US" sz="1100" dirty="0"/>
          </a:p>
          <a:p>
            <a:pPr marL="0" indent="0">
              <a:buNone/>
            </a:pPr>
            <a:endParaRPr lang="en-US" sz="1100" dirty="0"/>
          </a:p>
        </p:txBody>
      </p:sp>
      <p:sp>
        <p:nvSpPr>
          <p:cNvPr id="6" name="Shape 4"/>
          <p:cNvSpPr/>
          <p:nvPr/>
        </p:nvSpPr>
        <p:spPr>
          <a:xfrm>
            <a:off x="274320" y="603504"/>
            <a:ext cx="8595360" cy="530352"/>
          </a:xfrm>
          <a:prstGeom prst="roundRect">
            <a:avLst>
              <a:gd name="adj" fmla="val 13793"/>
            </a:avLst>
          </a:prstGeom>
          <a:solidFill>
            <a:srgbClr val="FFF5F5"/>
          </a:solidFill>
          <a:ln w="12700">
            <a:solidFill>
              <a:srgbClr val="E8E8E8"/>
            </a:solidFill>
            <a:prstDash val="solid"/>
          </a:ln>
        </p:spPr>
        <p:txBody>
          <a:bodyPr/>
          <a:lstStyle/>
          <a:p>
            <a:endParaRPr lang="en-IN"/>
          </a:p>
        </p:txBody>
      </p:sp>
      <p:sp>
        <p:nvSpPr>
          <p:cNvPr id="7" name="Text 5"/>
          <p:cNvSpPr/>
          <p:nvPr/>
        </p:nvSpPr>
        <p:spPr>
          <a:xfrm>
            <a:off x="411480" y="603504"/>
            <a:ext cx="8321040" cy="53035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  who is the senior most employee based on job title ?</a:t>
            </a:r>
            <a:endParaRPr lang="en-US" sz="1300" dirty="0"/>
          </a:p>
        </p:txBody>
      </p:sp>
      <p:sp>
        <p:nvSpPr>
          <p:cNvPr id="8" name="Text 6"/>
          <p:cNvSpPr/>
          <p:nvPr/>
        </p:nvSpPr>
        <p:spPr>
          <a:xfrm>
            <a:off x="417053" y="1545336"/>
            <a:ext cx="1828800" cy="274320"/>
          </a:xfrm>
          <a:prstGeom prst="rect">
            <a:avLst/>
          </a:prstGeom>
          <a:noFill/>
          <a:ln/>
        </p:spPr>
        <p:txBody>
          <a:bodyPr wrap="square" rtlCol="0" anchor="ctr"/>
          <a:lstStyle/>
          <a:p>
            <a:pPr marL="0" indent="0">
              <a:buNone/>
            </a:pPr>
            <a:r>
              <a:rPr lang="en-US" sz="1400" b="1" dirty="0">
                <a:solidFill>
                  <a:srgbClr val="CC0000"/>
                </a:solidFill>
                <a:latin typeface="Calibri" pitchFamily="34" charset="0"/>
                <a:ea typeface="Calibri" pitchFamily="34" charset="-122"/>
                <a:cs typeface="Calibri" pitchFamily="34" charset="-120"/>
              </a:rPr>
              <a:t>SQL Query :</a:t>
            </a:r>
            <a:endParaRPr lang="en-US" sz="1400" dirty="0"/>
          </a:p>
        </p:txBody>
      </p:sp>
      <p:sp>
        <p:nvSpPr>
          <p:cNvPr id="10" name="Text 8"/>
          <p:cNvSpPr/>
          <p:nvPr/>
        </p:nvSpPr>
        <p:spPr>
          <a:xfrm>
            <a:off x="297002" y="1106905"/>
            <a:ext cx="8321040" cy="1627632"/>
          </a:xfrm>
          <a:prstGeom prst="rect">
            <a:avLst/>
          </a:prstGeom>
          <a:noFill/>
          <a:ln/>
        </p:spPr>
        <p:txBody>
          <a:bodyPr wrap="square" rtlCol="0" anchor="t"/>
          <a:lstStyle/>
          <a:p>
            <a:pPr marL="0" indent="0">
              <a:buNone/>
            </a:pPr>
            <a:endParaRPr lang="en-US" sz="1000" dirty="0"/>
          </a:p>
        </p:txBody>
      </p:sp>
      <p:sp>
        <p:nvSpPr>
          <p:cNvPr id="11" name="Text 9"/>
          <p:cNvSpPr/>
          <p:nvPr/>
        </p:nvSpPr>
        <p:spPr>
          <a:xfrm>
            <a:off x="5240536" y="1431876"/>
            <a:ext cx="1828800" cy="256032"/>
          </a:xfrm>
          <a:prstGeom prst="rect">
            <a:avLst/>
          </a:prstGeom>
          <a:noFill/>
          <a:ln/>
        </p:spPr>
        <p:txBody>
          <a:bodyPr wrap="square" rtlCol="0" anchor="ctr"/>
          <a:lstStyle/>
          <a:p>
            <a:pPr marL="0" indent="0">
              <a:buNone/>
            </a:pPr>
            <a:r>
              <a:rPr lang="en-US" sz="1400" b="1" dirty="0">
                <a:solidFill>
                  <a:srgbClr val="CC0000"/>
                </a:solidFill>
                <a:latin typeface="Calibri" pitchFamily="34" charset="0"/>
                <a:ea typeface="Calibri" pitchFamily="34" charset="-122"/>
                <a:cs typeface="Calibri" pitchFamily="34" charset="-120"/>
              </a:rPr>
              <a:t>Result :</a:t>
            </a:r>
            <a:endParaRPr lang="en-US" sz="1400" dirty="0"/>
          </a:p>
        </p:txBody>
      </p:sp>
      <p:sp>
        <p:nvSpPr>
          <p:cNvPr id="13" name="Text 11"/>
          <p:cNvSpPr/>
          <p:nvPr/>
        </p:nvSpPr>
        <p:spPr>
          <a:xfrm>
            <a:off x="411480" y="3566160"/>
            <a:ext cx="4754880" cy="1170432"/>
          </a:xfrm>
          <a:prstGeom prst="rect">
            <a:avLst/>
          </a:prstGeom>
          <a:noFill/>
          <a:ln/>
        </p:spPr>
        <p:txBody>
          <a:bodyPr wrap="square" rtlCol="0" anchor="t"/>
          <a:lstStyle/>
          <a:p>
            <a:pPr marL="0" indent="0">
              <a:buNone/>
            </a:pPr>
            <a:endParaRPr lang="en-US" sz="1000" dirty="0"/>
          </a:p>
        </p:txBody>
      </p:sp>
      <p:sp>
        <p:nvSpPr>
          <p:cNvPr id="14" name="Shape 12"/>
          <p:cNvSpPr/>
          <p:nvPr/>
        </p:nvSpPr>
        <p:spPr>
          <a:xfrm>
            <a:off x="5230491" y="2691438"/>
            <a:ext cx="3429000" cy="1848558"/>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dirty="0"/>
          </a:p>
        </p:txBody>
      </p:sp>
      <p:sp>
        <p:nvSpPr>
          <p:cNvPr id="15" name="Text 13"/>
          <p:cNvSpPr/>
          <p:nvPr/>
        </p:nvSpPr>
        <p:spPr>
          <a:xfrm>
            <a:off x="5000745" y="2740638"/>
            <a:ext cx="3429000" cy="310896"/>
          </a:xfrm>
          <a:prstGeom prst="rect">
            <a:avLst/>
          </a:prstGeom>
          <a:noFill/>
          <a:ln/>
        </p:spPr>
        <p:txBody>
          <a:bodyPr wrap="square" rtlCol="0" anchor="ctr"/>
          <a:lstStyle/>
          <a:p>
            <a:pPr marL="0" indent="0" algn="ctr">
              <a:buNone/>
            </a:pPr>
            <a:r>
              <a:rPr lang="en-US" sz="1400" b="1" dirty="0">
                <a:solidFill>
                  <a:srgbClr val="CC0000"/>
                </a:solidFill>
                <a:latin typeface="Calibri" pitchFamily="34" charset="0"/>
                <a:ea typeface="Calibri" pitchFamily="34" charset="-122"/>
                <a:cs typeface="Calibri" pitchFamily="34" charset="-120"/>
              </a:rPr>
              <a:t>💡 Insight</a:t>
            </a:r>
            <a:endParaRPr lang="en-US" sz="1400" dirty="0"/>
          </a:p>
        </p:txBody>
      </p:sp>
      <p:sp>
        <p:nvSpPr>
          <p:cNvPr id="16" name="Text 14"/>
          <p:cNvSpPr/>
          <p:nvPr/>
        </p:nvSpPr>
        <p:spPr>
          <a:xfrm>
            <a:off x="5446276" y="2990569"/>
            <a:ext cx="3246120" cy="1133856"/>
          </a:xfrm>
          <a:prstGeom prst="rect">
            <a:avLst/>
          </a:prstGeom>
          <a:noFill/>
          <a:ln/>
        </p:spPr>
        <p:txBody>
          <a:bodyPr wrap="square" rtlCol="0" anchor="t"/>
          <a:lstStyle/>
          <a:p>
            <a:pPr lvl="0"/>
            <a:r>
              <a:rPr lang="en-IN" sz="1500" dirty="0"/>
              <a:t>Identifies the </a:t>
            </a:r>
            <a:r>
              <a:rPr lang="en-IN" sz="1500" b="1" dirty="0"/>
              <a:t>highest-ranking employee(s)</a:t>
            </a:r>
            <a:r>
              <a:rPr lang="en-IN" sz="1500" dirty="0"/>
              <a:t> in the organization. </a:t>
            </a:r>
          </a:p>
          <a:p>
            <a:pPr lvl="0"/>
            <a:r>
              <a:rPr lang="en-IN" sz="1500" dirty="0"/>
              <a:t>Helps understand the </a:t>
            </a:r>
            <a:r>
              <a:rPr lang="en-IN" sz="1500" b="1" dirty="0"/>
              <a:t>organizational hierarchy and leadership structure</a:t>
            </a:r>
            <a:r>
              <a:rPr lang="en-IN" sz="1600" dirty="0"/>
              <a:t>.</a:t>
            </a:r>
          </a:p>
          <a:p>
            <a:endParaRPr lang="en-US" sz="1600" dirty="0"/>
          </a:p>
        </p:txBody>
      </p:sp>
      <p:sp>
        <p:nvSpPr>
          <p:cNvPr id="12" name="TextBox 11">
            <a:extLst>
              <a:ext uri="{FF2B5EF4-FFF2-40B4-BE49-F238E27FC236}">
                <a16:creationId xmlns:a16="http://schemas.microsoft.com/office/drawing/2014/main" id="{C22E05C8-098A-F7AD-8188-5006D84B34D9}"/>
              </a:ext>
            </a:extLst>
          </p:cNvPr>
          <p:cNvSpPr txBox="1"/>
          <p:nvPr/>
        </p:nvSpPr>
        <p:spPr>
          <a:xfrm>
            <a:off x="417053" y="3130786"/>
            <a:ext cx="4138602" cy="2048638"/>
          </a:xfrm>
          <a:prstGeom prst="rect">
            <a:avLst/>
          </a:prstGeom>
          <a:noFill/>
        </p:spPr>
        <p:txBody>
          <a:bodyPr wrap="square">
            <a:spAutoFit/>
          </a:bodyPr>
          <a:lstStyle/>
          <a:p>
            <a:pPr lvl="0"/>
            <a:r>
              <a:rPr lang="en-US" sz="1600" b="1" u="sng" dirty="0">
                <a:solidFill>
                  <a:srgbClr val="CC0000"/>
                </a:solidFill>
                <a:latin typeface="Times New Roman" panose="02020603050405020304" pitchFamily="18" charset="0"/>
                <a:cs typeface="Times New Roman" panose="02020603050405020304" pitchFamily="18" charset="0"/>
              </a:rPr>
              <a:t>⚙ How This Query Works :</a:t>
            </a:r>
            <a:r>
              <a:rPr lang="en-IN" sz="1600" dirty="0"/>
              <a:t> </a:t>
            </a:r>
          </a:p>
          <a:p>
            <a:pPr lvl="0"/>
            <a:r>
              <a:rPr lang="en-IN" sz="1500" dirty="0"/>
              <a:t>Uses the </a:t>
            </a:r>
            <a:r>
              <a:rPr lang="en-IN" sz="1500" b="1" dirty="0"/>
              <a:t>Job Title</a:t>
            </a:r>
            <a:r>
              <a:rPr lang="en-IN" sz="1500" dirty="0"/>
              <a:t> column to identify the highest-level position. </a:t>
            </a:r>
          </a:p>
          <a:p>
            <a:pPr lvl="0"/>
            <a:r>
              <a:rPr lang="en-IN" sz="1500" dirty="0"/>
              <a:t>Sorts/filters employees based on their organizational seniority. </a:t>
            </a:r>
          </a:p>
          <a:p>
            <a:pPr lvl="0"/>
            <a:r>
              <a:rPr lang="en-IN" sz="1500" dirty="0"/>
              <a:t>Returns the employee(s) holding the </a:t>
            </a:r>
            <a:r>
              <a:rPr lang="en-IN" sz="1500" b="1" dirty="0"/>
              <a:t>senior-most job title</a:t>
            </a:r>
            <a:r>
              <a:rPr lang="en-IN" sz="1500" dirty="0"/>
              <a:t>.</a:t>
            </a:r>
          </a:p>
          <a:p>
            <a:pPr marL="0" indent="0" algn="just">
              <a:lnSpc>
                <a:spcPct val="150000"/>
              </a:lnSpc>
              <a:buNone/>
            </a:pPr>
            <a:endParaRPr lang="en-US" sz="1600" b="1" u="sng" dirty="0">
              <a:solidFill>
                <a:srgbClr val="CC0000"/>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24537A14-6E6C-9602-BEBF-219815C6855C}"/>
              </a:ext>
            </a:extLst>
          </p:cNvPr>
          <p:cNvPicPr>
            <a:picLocks noChangeAspect="1"/>
          </p:cNvPicPr>
          <p:nvPr/>
        </p:nvPicPr>
        <p:blipFill>
          <a:blip r:embed="rId3"/>
          <a:stretch>
            <a:fillRect/>
          </a:stretch>
        </p:blipFill>
        <p:spPr>
          <a:xfrm>
            <a:off x="4698977" y="1937839"/>
            <a:ext cx="4272329" cy="742950"/>
          </a:xfrm>
          <a:prstGeom prst="rect">
            <a:avLst/>
          </a:prstGeom>
        </p:spPr>
      </p:pic>
      <p:pic>
        <p:nvPicPr>
          <p:cNvPr id="27" name="Picture 26">
            <a:extLst>
              <a:ext uri="{FF2B5EF4-FFF2-40B4-BE49-F238E27FC236}">
                <a16:creationId xmlns:a16="http://schemas.microsoft.com/office/drawing/2014/main" id="{E6D281AF-1BDD-659A-BF8B-5F0F7863A43A}"/>
              </a:ext>
            </a:extLst>
          </p:cNvPr>
          <p:cNvPicPr>
            <a:picLocks noChangeAspect="1"/>
          </p:cNvPicPr>
          <p:nvPr/>
        </p:nvPicPr>
        <p:blipFill>
          <a:blip r:embed="rId4"/>
          <a:stretch>
            <a:fillRect/>
          </a:stretch>
        </p:blipFill>
        <p:spPr>
          <a:xfrm>
            <a:off x="379900" y="1829662"/>
            <a:ext cx="4236180" cy="9048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74320" y="164592"/>
            <a:ext cx="137160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 CASE 1.2</a:t>
            </a:r>
            <a:endParaRPr lang="en-US" sz="900" dirty="0"/>
          </a:p>
        </p:txBody>
      </p:sp>
      <p:sp>
        <p:nvSpPr>
          <p:cNvPr id="5" name="Text 3"/>
          <p:cNvSpPr/>
          <p:nvPr/>
        </p:nvSpPr>
        <p:spPr>
          <a:xfrm>
            <a:off x="210639" y="172282"/>
            <a:ext cx="7040880" cy="347472"/>
          </a:xfrm>
          <a:prstGeom prst="rect">
            <a:avLst/>
          </a:prstGeom>
          <a:noFill/>
          <a:ln/>
        </p:spPr>
        <p:txBody>
          <a:bodyPr wrap="square" rtlCol="0" anchor="ctr"/>
          <a:lstStyle/>
          <a:p>
            <a:endParaRPr lang="en-US" sz="1100" dirty="0">
              <a:solidFill>
                <a:srgbClr val="555555"/>
              </a:solidFill>
              <a:latin typeface="Calibri" pitchFamily="34" charset="0"/>
              <a:ea typeface="Calibri" pitchFamily="34" charset="-122"/>
              <a:cs typeface="Calibri" pitchFamily="34" charset="-120"/>
            </a:endParaRPr>
          </a:p>
          <a:p>
            <a:r>
              <a:rPr lang="en-US" sz="1100" dirty="0">
                <a:solidFill>
                  <a:srgbClr val="555555"/>
                </a:solidFill>
                <a:latin typeface="Calibri" pitchFamily="34" charset="0"/>
                <a:ea typeface="Calibri" pitchFamily="34" charset="-122"/>
                <a:cs typeface="Calibri" pitchFamily="34" charset="-120"/>
              </a:rPr>
              <a:t>Queries and Insights</a:t>
            </a:r>
            <a:endParaRPr lang="en-US" sz="1100" dirty="0"/>
          </a:p>
          <a:p>
            <a:pPr marL="0" indent="0">
              <a:buNone/>
            </a:pPr>
            <a:endParaRPr lang="en-US" sz="1100" dirty="0"/>
          </a:p>
        </p:txBody>
      </p:sp>
      <p:sp>
        <p:nvSpPr>
          <p:cNvPr id="6" name="Shape 4"/>
          <p:cNvSpPr/>
          <p:nvPr/>
        </p:nvSpPr>
        <p:spPr>
          <a:xfrm>
            <a:off x="274320" y="603504"/>
            <a:ext cx="8595360" cy="530352"/>
          </a:xfrm>
          <a:prstGeom prst="roundRect">
            <a:avLst>
              <a:gd name="adj" fmla="val 13793"/>
            </a:avLst>
          </a:prstGeom>
          <a:solidFill>
            <a:srgbClr val="FFF5F5"/>
          </a:solidFill>
          <a:ln w="12700">
            <a:solidFill>
              <a:srgbClr val="E8E8E8"/>
            </a:solidFill>
            <a:prstDash val="solid"/>
          </a:ln>
        </p:spPr>
        <p:txBody>
          <a:bodyPr/>
          <a:lstStyle/>
          <a:p>
            <a:endParaRPr lang="en-IN"/>
          </a:p>
        </p:txBody>
      </p:sp>
      <p:sp>
        <p:nvSpPr>
          <p:cNvPr id="7" name="Text 5"/>
          <p:cNvSpPr/>
          <p:nvPr/>
        </p:nvSpPr>
        <p:spPr>
          <a:xfrm>
            <a:off x="411480" y="603504"/>
            <a:ext cx="8321040" cy="53035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  Which country have the most Invoices ?</a:t>
            </a:r>
            <a:endParaRPr lang="en-US" sz="1300" dirty="0"/>
          </a:p>
        </p:txBody>
      </p:sp>
      <p:sp>
        <p:nvSpPr>
          <p:cNvPr id="8" name="Text 6"/>
          <p:cNvSpPr/>
          <p:nvPr/>
        </p:nvSpPr>
        <p:spPr>
          <a:xfrm>
            <a:off x="274320" y="1225296"/>
            <a:ext cx="1828800" cy="274320"/>
          </a:xfrm>
          <a:prstGeom prst="rect">
            <a:avLst/>
          </a:prstGeom>
          <a:noFill/>
          <a:ln/>
        </p:spPr>
        <p:txBody>
          <a:bodyPr wrap="square" rtlCol="0" anchor="ctr"/>
          <a:lstStyle/>
          <a:p>
            <a:r>
              <a:rPr lang="en-US" sz="1100" b="1" dirty="0">
                <a:solidFill>
                  <a:srgbClr val="CC0000"/>
                </a:solidFill>
                <a:latin typeface="Calibri" pitchFamily="34" charset="0"/>
                <a:ea typeface="Calibri" pitchFamily="34" charset="-122"/>
                <a:cs typeface="Calibri" pitchFamily="34" charset="-120"/>
              </a:rPr>
              <a:t>SQL Query :</a:t>
            </a:r>
            <a:endParaRPr lang="en-US" sz="1100" dirty="0"/>
          </a:p>
        </p:txBody>
      </p:sp>
      <p:sp>
        <p:nvSpPr>
          <p:cNvPr id="11" name="Text 9"/>
          <p:cNvSpPr/>
          <p:nvPr/>
        </p:nvSpPr>
        <p:spPr>
          <a:xfrm>
            <a:off x="5326380" y="1362456"/>
            <a:ext cx="1828800" cy="256032"/>
          </a:xfrm>
          <a:prstGeom prst="rect">
            <a:avLst/>
          </a:prstGeom>
          <a:noFill/>
          <a:ln/>
        </p:spPr>
        <p:txBody>
          <a:bodyPr wrap="square" rtlCol="0" anchor="ctr"/>
          <a:lstStyle/>
          <a:p>
            <a:pPr marL="0" indent="0">
              <a:buNone/>
            </a:pPr>
            <a:r>
              <a:rPr lang="en-US" sz="1100" b="1" dirty="0">
                <a:solidFill>
                  <a:srgbClr val="CC0000"/>
                </a:solidFill>
                <a:latin typeface="Calibri" pitchFamily="34" charset="0"/>
                <a:ea typeface="Calibri" pitchFamily="34" charset="-122"/>
                <a:cs typeface="Calibri" pitchFamily="34" charset="-120"/>
              </a:rPr>
              <a:t>Result :</a:t>
            </a:r>
            <a:endParaRPr lang="en-US" sz="1100" dirty="0"/>
          </a:p>
        </p:txBody>
      </p:sp>
      <p:sp>
        <p:nvSpPr>
          <p:cNvPr id="13" name="Text 11"/>
          <p:cNvSpPr/>
          <p:nvPr/>
        </p:nvSpPr>
        <p:spPr>
          <a:xfrm>
            <a:off x="411480" y="3566160"/>
            <a:ext cx="4754880" cy="1170432"/>
          </a:xfrm>
          <a:prstGeom prst="rect">
            <a:avLst/>
          </a:prstGeom>
          <a:noFill/>
          <a:ln/>
        </p:spPr>
        <p:txBody>
          <a:bodyPr wrap="square" rtlCol="0" anchor="t"/>
          <a:lstStyle/>
          <a:p>
            <a:pPr marL="0" indent="0">
              <a:buNone/>
            </a:pPr>
            <a:endParaRPr lang="en-US" sz="1000" dirty="0"/>
          </a:p>
        </p:txBody>
      </p:sp>
      <p:sp>
        <p:nvSpPr>
          <p:cNvPr id="14" name="Shape 12"/>
          <p:cNvSpPr/>
          <p:nvPr/>
        </p:nvSpPr>
        <p:spPr>
          <a:xfrm>
            <a:off x="5218385" y="2825194"/>
            <a:ext cx="3429000" cy="1649073"/>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15" name="Text 13"/>
          <p:cNvSpPr/>
          <p:nvPr/>
        </p:nvSpPr>
        <p:spPr>
          <a:xfrm>
            <a:off x="5108028" y="2825194"/>
            <a:ext cx="3761652" cy="350713"/>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a:t>
            </a:r>
            <a:r>
              <a:rPr lang="en-US" sz="1400" b="1" dirty="0">
                <a:solidFill>
                  <a:srgbClr val="CC0000"/>
                </a:solidFill>
                <a:latin typeface="Calibri" pitchFamily="34" charset="0"/>
                <a:ea typeface="Calibri" pitchFamily="34" charset="-122"/>
                <a:cs typeface="Calibri" pitchFamily="34" charset="-120"/>
              </a:rPr>
              <a:t>Insight</a:t>
            </a:r>
            <a:endParaRPr lang="en-US" sz="1400" dirty="0"/>
          </a:p>
        </p:txBody>
      </p:sp>
      <p:sp>
        <p:nvSpPr>
          <p:cNvPr id="16" name="Text 14"/>
          <p:cNvSpPr/>
          <p:nvPr/>
        </p:nvSpPr>
        <p:spPr>
          <a:xfrm>
            <a:off x="5264331" y="3074395"/>
            <a:ext cx="3365939" cy="1161288"/>
          </a:xfrm>
          <a:prstGeom prst="rect">
            <a:avLst/>
          </a:prstGeom>
          <a:noFill/>
          <a:ln/>
        </p:spPr>
        <p:txBody>
          <a:bodyPr wrap="square" rtlCol="0" anchor="t"/>
          <a:lstStyle/>
          <a:p>
            <a:pPr lvl="0"/>
            <a:r>
              <a:rPr lang="en-IN" sz="1500" dirty="0"/>
              <a:t>Identifies the country generating the </a:t>
            </a:r>
            <a:r>
              <a:rPr lang="en-IN" sz="1500" b="1" dirty="0"/>
              <a:t>most invoices</a:t>
            </a:r>
            <a:r>
              <a:rPr lang="en-IN" sz="1500" dirty="0"/>
              <a:t>. </a:t>
            </a:r>
          </a:p>
          <a:p>
            <a:pPr lvl="0"/>
            <a:r>
              <a:rPr lang="en-IN" sz="1500" dirty="0"/>
              <a:t>Helps understand </a:t>
            </a:r>
            <a:r>
              <a:rPr lang="en-IN" sz="1500" b="1" dirty="0"/>
              <a:t>where the business has the highest customer transaction activity</a:t>
            </a:r>
            <a:r>
              <a:rPr lang="en-IN" sz="1500" dirty="0"/>
              <a:t>.</a:t>
            </a:r>
          </a:p>
          <a:p>
            <a:pPr algn="just"/>
            <a:endParaRPr lang="en-US"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CC1D6F4-6760-A617-D110-F5F374573FCA}"/>
              </a:ext>
            </a:extLst>
          </p:cNvPr>
          <p:cNvSpPr txBox="1"/>
          <p:nvPr/>
        </p:nvSpPr>
        <p:spPr>
          <a:xfrm>
            <a:off x="365760" y="3313355"/>
            <a:ext cx="4416540" cy="1738938"/>
          </a:xfrm>
          <a:prstGeom prst="rect">
            <a:avLst/>
          </a:prstGeom>
          <a:noFill/>
        </p:spPr>
        <p:txBody>
          <a:bodyPr wrap="square">
            <a:spAutoFit/>
          </a:bodyPr>
          <a:lstStyle/>
          <a:p>
            <a:pPr lvl="0"/>
            <a:r>
              <a:rPr lang="en-US" sz="1600" b="1" u="sng" dirty="0">
                <a:solidFill>
                  <a:srgbClr val="CC0000"/>
                </a:solidFill>
                <a:latin typeface="Times New Roman" panose="02020603050405020304" pitchFamily="18" charset="0"/>
                <a:cs typeface="Times New Roman" panose="02020603050405020304" pitchFamily="18" charset="0"/>
              </a:rPr>
              <a:t>⚙ How This Query Works :</a:t>
            </a:r>
            <a:r>
              <a:rPr lang="en-IN" sz="1600" dirty="0"/>
              <a:t> </a:t>
            </a:r>
          </a:p>
          <a:p>
            <a:pPr lvl="0"/>
            <a:r>
              <a:rPr lang="en-IN" sz="1500" dirty="0"/>
              <a:t>Groups invoices by </a:t>
            </a:r>
            <a:r>
              <a:rPr lang="en-IN" sz="1500" b="1" dirty="0"/>
              <a:t>billing country</a:t>
            </a:r>
            <a:r>
              <a:rPr lang="en-IN" sz="1500" dirty="0"/>
              <a:t>. </a:t>
            </a:r>
          </a:p>
          <a:p>
            <a:pPr lvl="0"/>
            <a:r>
              <a:rPr lang="en-IN" sz="1500" dirty="0"/>
              <a:t>Counts the total invoices for each country. </a:t>
            </a:r>
          </a:p>
          <a:p>
            <a:pPr lvl="0"/>
            <a:r>
              <a:rPr lang="en-IN" sz="1500" dirty="0"/>
              <a:t>Sorts the results in </a:t>
            </a:r>
            <a:r>
              <a:rPr lang="en-IN" sz="1500" b="1" dirty="0"/>
              <a:t>descending order</a:t>
            </a:r>
            <a:r>
              <a:rPr lang="en-IN" sz="1500" dirty="0"/>
              <a:t>. </a:t>
            </a:r>
          </a:p>
          <a:p>
            <a:pPr lvl="0"/>
            <a:r>
              <a:rPr lang="en-IN" sz="1500" dirty="0"/>
              <a:t>LIMIT 1 returns the country with the </a:t>
            </a:r>
            <a:r>
              <a:rPr lang="en-IN" sz="1500" b="1" dirty="0"/>
              <a:t>highest number of invoices</a:t>
            </a:r>
            <a:r>
              <a:rPr lang="en-IN" sz="1500" dirty="0"/>
              <a:t>.</a:t>
            </a:r>
          </a:p>
          <a:p>
            <a:pPr marL="0" indent="0">
              <a:buNone/>
            </a:pPr>
            <a:endParaRPr lang="en-US" sz="1600" b="1" u="sng" dirty="0">
              <a:solidFill>
                <a:srgbClr val="CC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A0130FF-3E51-3096-B37D-B40927F09C5F}"/>
              </a:ext>
            </a:extLst>
          </p:cNvPr>
          <p:cNvPicPr>
            <a:picLocks noChangeAspect="1"/>
          </p:cNvPicPr>
          <p:nvPr/>
        </p:nvPicPr>
        <p:blipFill>
          <a:blip r:embed="rId3"/>
          <a:stretch>
            <a:fillRect/>
          </a:stretch>
        </p:blipFill>
        <p:spPr>
          <a:xfrm>
            <a:off x="293831" y="1577340"/>
            <a:ext cx="4645562" cy="1757222"/>
          </a:xfrm>
          <a:prstGeom prst="rect">
            <a:avLst/>
          </a:prstGeom>
        </p:spPr>
      </p:pic>
      <p:pic>
        <p:nvPicPr>
          <p:cNvPr id="12" name="Picture 11">
            <a:extLst>
              <a:ext uri="{FF2B5EF4-FFF2-40B4-BE49-F238E27FC236}">
                <a16:creationId xmlns:a16="http://schemas.microsoft.com/office/drawing/2014/main" id="{2452725D-532F-C8C2-B62B-524F453499F5}"/>
              </a:ext>
            </a:extLst>
          </p:cNvPr>
          <p:cNvPicPr>
            <a:picLocks noChangeAspect="1"/>
          </p:cNvPicPr>
          <p:nvPr/>
        </p:nvPicPr>
        <p:blipFill>
          <a:blip r:embed="rId4"/>
          <a:stretch>
            <a:fillRect/>
          </a:stretch>
        </p:blipFill>
        <p:spPr>
          <a:xfrm>
            <a:off x="5390941" y="1725731"/>
            <a:ext cx="2495550" cy="8452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74320" y="164592"/>
            <a:ext cx="137160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 CASE 2.1</a:t>
            </a:r>
            <a:endParaRPr lang="en-US" sz="900" dirty="0"/>
          </a:p>
        </p:txBody>
      </p:sp>
      <p:sp>
        <p:nvSpPr>
          <p:cNvPr id="5" name="Text 3"/>
          <p:cNvSpPr/>
          <p:nvPr/>
        </p:nvSpPr>
        <p:spPr>
          <a:xfrm>
            <a:off x="176916" y="180594"/>
            <a:ext cx="7040880" cy="347472"/>
          </a:xfrm>
          <a:prstGeom prst="rect">
            <a:avLst/>
          </a:prstGeom>
          <a:noFill/>
          <a:ln/>
        </p:spPr>
        <p:txBody>
          <a:bodyPr wrap="square" rtlCol="0" anchor="ctr"/>
          <a:lstStyle/>
          <a:p>
            <a:endParaRPr lang="en-US" sz="1100" dirty="0">
              <a:solidFill>
                <a:srgbClr val="555555"/>
              </a:solidFill>
              <a:latin typeface="Calibri" pitchFamily="34" charset="0"/>
              <a:ea typeface="Calibri" pitchFamily="34" charset="-122"/>
              <a:cs typeface="Calibri" pitchFamily="34" charset="-120"/>
            </a:endParaRPr>
          </a:p>
          <a:p>
            <a:r>
              <a:rPr lang="en-US" sz="1100" dirty="0">
                <a:solidFill>
                  <a:srgbClr val="555555"/>
                </a:solidFill>
                <a:latin typeface="Calibri" pitchFamily="34" charset="0"/>
                <a:ea typeface="Calibri" pitchFamily="34" charset="-122"/>
                <a:cs typeface="Calibri" pitchFamily="34" charset="-120"/>
              </a:rPr>
              <a:t>Queries and Insights</a:t>
            </a:r>
            <a:endParaRPr lang="en-US" sz="1100" dirty="0"/>
          </a:p>
          <a:p>
            <a:pPr marL="0" indent="0">
              <a:buNone/>
            </a:pPr>
            <a:endParaRPr lang="en-US" sz="1100" dirty="0"/>
          </a:p>
        </p:txBody>
      </p:sp>
      <p:sp>
        <p:nvSpPr>
          <p:cNvPr id="6" name="Shape 4"/>
          <p:cNvSpPr/>
          <p:nvPr/>
        </p:nvSpPr>
        <p:spPr>
          <a:xfrm>
            <a:off x="274320" y="603504"/>
            <a:ext cx="8595360" cy="530352"/>
          </a:xfrm>
          <a:prstGeom prst="roundRect">
            <a:avLst>
              <a:gd name="adj" fmla="val 13793"/>
            </a:avLst>
          </a:prstGeom>
          <a:solidFill>
            <a:srgbClr val="FFF5F5"/>
          </a:solidFill>
          <a:ln w="12700">
            <a:solidFill>
              <a:srgbClr val="E8E8E8"/>
            </a:solidFill>
            <a:prstDash val="solid"/>
          </a:ln>
        </p:spPr>
        <p:txBody>
          <a:bodyPr/>
          <a:lstStyle/>
          <a:p>
            <a:endParaRPr lang="en-IN"/>
          </a:p>
        </p:txBody>
      </p:sp>
      <p:sp>
        <p:nvSpPr>
          <p:cNvPr id="7" name="Text 5"/>
          <p:cNvSpPr/>
          <p:nvPr/>
        </p:nvSpPr>
        <p:spPr>
          <a:xfrm>
            <a:off x="513471" y="611505"/>
            <a:ext cx="8321040" cy="530352"/>
          </a:xfrm>
          <a:prstGeom prst="rect">
            <a:avLst/>
          </a:prstGeom>
          <a:noFill/>
          <a:ln/>
        </p:spPr>
        <p:txBody>
          <a:bodyPr wrap="square" rtlCol="0" anchor="ctr"/>
          <a:lstStyle/>
          <a:p>
            <a:r>
              <a:rPr lang="en-US" sz="1300" b="1" dirty="0">
                <a:solidFill>
                  <a:srgbClr val="1A1A2E"/>
                </a:solidFill>
                <a:latin typeface="Calibri" pitchFamily="34" charset="0"/>
                <a:ea typeface="Calibri" pitchFamily="34" charset="-122"/>
                <a:cs typeface="Calibri" pitchFamily="34" charset="-120"/>
              </a:rPr>
              <a:t>❓ </a:t>
            </a:r>
            <a:r>
              <a:rPr lang="en-IN" dirty="0"/>
              <a:t> </a:t>
            </a:r>
            <a:r>
              <a:rPr lang="en-IN" sz="1400" b="1" dirty="0"/>
              <a:t>Who is the best customer? - The customer who has spent the most money will be declared -- the best customer. Write a query that returns the person who has spent the most money </a:t>
            </a:r>
            <a:r>
              <a:rPr lang="en-US" sz="1300" b="1" dirty="0">
                <a:solidFill>
                  <a:srgbClr val="1A1A2E"/>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274320" y="1225296"/>
            <a:ext cx="1828800" cy="274320"/>
          </a:xfrm>
          <a:prstGeom prst="rect">
            <a:avLst/>
          </a:prstGeom>
          <a:noFill/>
          <a:ln/>
        </p:spPr>
        <p:txBody>
          <a:bodyPr wrap="square" rtlCol="0" anchor="ctr"/>
          <a:lstStyle/>
          <a:p>
            <a:r>
              <a:rPr lang="en-US" sz="1100" b="1" dirty="0">
                <a:solidFill>
                  <a:srgbClr val="CC0000"/>
                </a:solidFill>
                <a:latin typeface="Calibri" pitchFamily="34" charset="0"/>
                <a:ea typeface="Calibri" pitchFamily="34" charset="-122"/>
                <a:cs typeface="Calibri" pitchFamily="34" charset="-120"/>
              </a:rPr>
              <a:t>SQL Query :</a:t>
            </a:r>
            <a:endParaRPr lang="en-US" sz="1100" dirty="0"/>
          </a:p>
        </p:txBody>
      </p:sp>
      <p:sp>
        <p:nvSpPr>
          <p:cNvPr id="10" name="Text 8"/>
          <p:cNvSpPr/>
          <p:nvPr/>
        </p:nvSpPr>
        <p:spPr>
          <a:xfrm>
            <a:off x="411480" y="1536192"/>
            <a:ext cx="8321040" cy="1627632"/>
          </a:xfrm>
          <a:prstGeom prst="rect">
            <a:avLst/>
          </a:prstGeom>
          <a:noFill/>
          <a:ln/>
        </p:spPr>
        <p:txBody>
          <a:bodyPr wrap="square" rtlCol="0" anchor="t"/>
          <a:lstStyle/>
          <a:p>
            <a:pPr marL="0" indent="0">
              <a:buNone/>
            </a:pPr>
            <a:endParaRPr lang="en-US" sz="1000" dirty="0"/>
          </a:p>
        </p:txBody>
      </p:sp>
      <p:sp>
        <p:nvSpPr>
          <p:cNvPr id="11" name="Text 9"/>
          <p:cNvSpPr/>
          <p:nvPr/>
        </p:nvSpPr>
        <p:spPr>
          <a:xfrm>
            <a:off x="5566765" y="1316736"/>
            <a:ext cx="1828800" cy="256032"/>
          </a:xfrm>
          <a:prstGeom prst="rect">
            <a:avLst/>
          </a:prstGeom>
          <a:noFill/>
          <a:ln/>
        </p:spPr>
        <p:txBody>
          <a:bodyPr wrap="square" rtlCol="0" anchor="ctr"/>
          <a:lstStyle/>
          <a:p>
            <a:pPr marL="0" indent="0">
              <a:buNone/>
            </a:pPr>
            <a:r>
              <a:rPr lang="en-US" sz="1200" b="1" dirty="0">
                <a:solidFill>
                  <a:srgbClr val="CC0000"/>
                </a:solidFill>
                <a:latin typeface="Calibri" pitchFamily="34" charset="0"/>
                <a:ea typeface="Calibri" pitchFamily="34" charset="-122"/>
                <a:cs typeface="Calibri" pitchFamily="34" charset="-120"/>
              </a:rPr>
              <a:t>Result :</a:t>
            </a:r>
            <a:endParaRPr lang="en-US" sz="1200" dirty="0"/>
          </a:p>
        </p:txBody>
      </p:sp>
      <p:sp>
        <p:nvSpPr>
          <p:cNvPr id="14" name="Shape 12"/>
          <p:cNvSpPr/>
          <p:nvPr/>
        </p:nvSpPr>
        <p:spPr>
          <a:xfrm>
            <a:off x="5143284" y="3049524"/>
            <a:ext cx="3817836" cy="1490472"/>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dirty="0"/>
          </a:p>
        </p:txBody>
      </p:sp>
      <p:sp>
        <p:nvSpPr>
          <p:cNvPr id="15" name="Text 13"/>
          <p:cNvSpPr/>
          <p:nvPr/>
        </p:nvSpPr>
        <p:spPr>
          <a:xfrm>
            <a:off x="5045249" y="3008376"/>
            <a:ext cx="3429000" cy="310896"/>
          </a:xfrm>
          <a:prstGeom prst="rect">
            <a:avLst/>
          </a:prstGeom>
          <a:noFill/>
          <a:ln/>
        </p:spPr>
        <p:txBody>
          <a:bodyPr wrap="square" rtlCol="0" anchor="ctr"/>
          <a:lstStyle/>
          <a:p>
            <a:pPr marL="0" indent="0" algn="ctr">
              <a:buNone/>
            </a:pPr>
            <a:r>
              <a:rPr lang="en-US" sz="1400" b="1" dirty="0">
                <a:solidFill>
                  <a:srgbClr val="CC0000"/>
                </a:solidFill>
                <a:latin typeface="Calibri" pitchFamily="34" charset="0"/>
                <a:ea typeface="Calibri" pitchFamily="34" charset="-122"/>
                <a:cs typeface="Calibri" pitchFamily="34" charset="-120"/>
              </a:rPr>
              <a:t>💡 Insight</a:t>
            </a:r>
            <a:endParaRPr lang="en-US" sz="1400" dirty="0"/>
          </a:p>
        </p:txBody>
      </p:sp>
      <p:sp>
        <p:nvSpPr>
          <p:cNvPr id="16" name="Text 14"/>
          <p:cNvSpPr/>
          <p:nvPr/>
        </p:nvSpPr>
        <p:spPr>
          <a:xfrm>
            <a:off x="5094267" y="3337887"/>
            <a:ext cx="3915870" cy="1147572"/>
          </a:xfrm>
          <a:prstGeom prst="rect">
            <a:avLst/>
          </a:prstGeom>
          <a:noFill/>
          <a:ln/>
        </p:spPr>
        <p:txBody>
          <a:bodyPr wrap="square" rtlCol="0" anchor="t"/>
          <a:lstStyle/>
          <a:p>
            <a:pPr lvl="0"/>
            <a:r>
              <a:rPr lang="en-IN" sz="1500" dirty="0"/>
              <a:t>Identifies the </a:t>
            </a:r>
            <a:r>
              <a:rPr lang="en-IN" sz="1500" b="1" dirty="0"/>
              <a:t>highest-value customer</a:t>
            </a:r>
            <a:r>
              <a:rPr lang="en-IN" sz="1500" dirty="0"/>
              <a:t> based on total spending. </a:t>
            </a:r>
          </a:p>
          <a:p>
            <a:pPr lvl="0"/>
            <a:r>
              <a:rPr lang="en-IN" sz="1500" dirty="0"/>
              <a:t>Helps understand </a:t>
            </a:r>
            <a:r>
              <a:rPr lang="en-IN" sz="1500" b="1" dirty="0"/>
              <a:t>customer value and purchasing contribution</a:t>
            </a:r>
            <a:r>
              <a:rPr lang="en-IN" sz="1500" dirty="0"/>
              <a:t> to the business.</a:t>
            </a:r>
          </a:p>
          <a:p>
            <a:pPr algn="just"/>
            <a:endParaRPr lang="en-US" sz="1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C604211-B1F9-1C3D-C6E8-B70564774B46}"/>
              </a:ext>
            </a:extLst>
          </p:cNvPr>
          <p:cNvSpPr txBox="1"/>
          <p:nvPr/>
        </p:nvSpPr>
        <p:spPr>
          <a:xfrm>
            <a:off x="274320" y="3230888"/>
            <a:ext cx="4284058" cy="1985159"/>
          </a:xfrm>
          <a:prstGeom prst="rect">
            <a:avLst/>
          </a:prstGeom>
          <a:noFill/>
        </p:spPr>
        <p:txBody>
          <a:bodyPr wrap="square">
            <a:spAutoFit/>
          </a:bodyPr>
          <a:lstStyle/>
          <a:p>
            <a:pPr lvl="0"/>
            <a:r>
              <a:rPr lang="en-US" sz="1600" b="1" u="sng" dirty="0">
                <a:solidFill>
                  <a:srgbClr val="CC0000"/>
                </a:solidFill>
                <a:latin typeface="Times New Roman" panose="02020603050405020304" pitchFamily="18" charset="0"/>
                <a:cs typeface="Times New Roman" panose="02020603050405020304" pitchFamily="18" charset="0"/>
              </a:rPr>
              <a:t>⚙ How This Query Works :</a:t>
            </a:r>
          </a:p>
          <a:p>
            <a:pPr lvl="0"/>
            <a:r>
              <a:rPr lang="en-IN" sz="1600" dirty="0"/>
              <a:t> </a:t>
            </a:r>
            <a:r>
              <a:rPr lang="en-IN" sz="1500" dirty="0"/>
              <a:t>Joins </a:t>
            </a:r>
            <a:r>
              <a:rPr lang="en-IN" sz="1500" b="1" dirty="0"/>
              <a:t>Customer</a:t>
            </a:r>
            <a:r>
              <a:rPr lang="en-IN" sz="1500" dirty="0"/>
              <a:t> and </a:t>
            </a:r>
            <a:r>
              <a:rPr lang="en-IN" sz="1500" b="1" dirty="0"/>
              <a:t>Invoice</a:t>
            </a:r>
            <a:r>
              <a:rPr lang="en-IN" sz="1500" dirty="0"/>
              <a:t> tables using </a:t>
            </a:r>
            <a:r>
              <a:rPr lang="en-IN" sz="1500" dirty="0" err="1"/>
              <a:t>customer_id</a:t>
            </a:r>
            <a:r>
              <a:rPr lang="en-IN" sz="1500" dirty="0"/>
              <a:t>.  Calculates each customer’s </a:t>
            </a:r>
            <a:r>
              <a:rPr lang="en-IN" sz="1500" b="1" dirty="0"/>
              <a:t>total spending</a:t>
            </a:r>
            <a:r>
              <a:rPr lang="en-IN" sz="1500" dirty="0"/>
              <a:t> using SUM(</a:t>
            </a:r>
            <a:r>
              <a:rPr lang="en-IN" sz="1500" dirty="0" err="1"/>
              <a:t>i.total</a:t>
            </a:r>
            <a:r>
              <a:rPr lang="en-IN" sz="1500" dirty="0"/>
              <a:t>). </a:t>
            </a:r>
          </a:p>
          <a:p>
            <a:pPr lvl="0"/>
            <a:r>
              <a:rPr lang="en-IN" sz="1500" dirty="0"/>
              <a:t>Groups the results by customer. </a:t>
            </a:r>
          </a:p>
          <a:p>
            <a:pPr lvl="0"/>
            <a:r>
              <a:rPr lang="en-IN" sz="1500" dirty="0"/>
              <a:t>Sorts spending in </a:t>
            </a:r>
            <a:r>
              <a:rPr lang="en-IN" sz="1500" b="1" dirty="0"/>
              <a:t>descending order</a:t>
            </a:r>
            <a:r>
              <a:rPr lang="en-IN" sz="1500" dirty="0"/>
              <a:t> and LIMIT 1 returns the highest-spending customer.</a:t>
            </a:r>
          </a:p>
          <a:p>
            <a:pPr marL="0" indent="0" algn="just">
              <a:buNone/>
            </a:pPr>
            <a:endParaRPr lang="en-US" sz="1600" b="1" u="sng" dirty="0">
              <a:solidFill>
                <a:srgbClr val="CC0000"/>
              </a:solidFill>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CEECB1A6-740C-5F60-3AE1-E439AFF9FE9D}"/>
              </a:ext>
            </a:extLst>
          </p:cNvPr>
          <p:cNvPicPr>
            <a:picLocks noChangeAspect="1"/>
          </p:cNvPicPr>
          <p:nvPr/>
        </p:nvPicPr>
        <p:blipFill>
          <a:blip r:embed="rId3"/>
          <a:stretch>
            <a:fillRect/>
          </a:stretch>
        </p:blipFill>
        <p:spPr>
          <a:xfrm>
            <a:off x="5566765" y="1715643"/>
            <a:ext cx="3601034" cy="848106"/>
          </a:xfrm>
          <a:prstGeom prst="rect">
            <a:avLst/>
          </a:prstGeom>
        </p:spPr>
      </p:pic>
      <p:pic>
        <p:nvPicPr>
          <p:cNvPr id="22" name="Picture 21">
            <a:extLst>
              <a:ext uri="{FF2B5EF4-FFF2-40B4-BE49-F238E27FC236}">
                <a16:creationId xmlns:a16="http://schemas.microsoft.com/office/drawing/2014/main" id="{A16FF601-C5C2-699B-A496-3274ADD2F568}"/>
              </a:ext>
            </a:extLst>
          </p:cNvPr>
          <p:cNvPicPr>
            <a:picLocks noChangeAspect="1"/>
          </p:cNvPicPr>
          <p:nvPr/>
        </p:nvPicPr>
        <p:blipFill>
          <a:blip r:embed="rId4"/>
          <a:stretch>
            <a:fillRect/>
          </a:stretch>
        </p:blipFill>
        <p:spPr>
          <a:xfrm>
            <a:off x="274320" y="1535538"/>
            <a:ext cx="4819947" cy="16594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74320" y="164592"/>
            <a:ext cx="137160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 CASE 2.2</a:t>
            </a:r>
            <a:endParaRPr lang="en-US" sz="900" dirty="0"/>
          </a:p>
        </p:txBody>
      </p:sp>
      <p:sp>
        <p:nvSpPr>
          <p:cNvPr id="5" name="Text 3"/>
          <p:cNvSpPr/>
          <p:nvPr/>
        </p:nvSpPr>
        <p:spPr>
          <a:xfrm>
            <a:off x="186146" y="191029"/>
            <a:ext cx="7040880" cy="347472"/>
          </a:xfrm>
          <a:prstGeom prst="rect">
            <a:avLst/>
          </a:prstGeom>
          <a:noFill/>
          <a:ln/>
        </p:spPr>
        <p:txBody>
          <a:bodyPr wrap="square" rtlCol="0" anchor="ctr"/>
          <a:lstStyle/>
          <a:p>
            <a:endParaRPr lang="en-US" sz="1100" dirty="0">
              <a:solidFill>
                <a:srgbClr val="555555"/>
              </a:solidFill>
              <a:latin typeface="Calibri" pitchFamily="34" charset="0"/>
              <a:ea typeface="Calibri" pitchFamily="34" charset="-122"/>
              <a:cs typeface="Calibri" pitchFamily="34" charset="-120"/>
            </a:endParaRPr>
          </a:p>
          <a:p>
            <a:r>
              <a:rPr lang="en-US" sz="1100" dirty="0">
                <a:solidFill>
                  <a:srgbClr val="555555"/>
                </a:solidFill>
                <a:latin typeface="Calibri" pitchFamily="34" charset="0"/>
                <a:ea typeface="Calibri" pitchFamily="34" charset="-122"/>
                <a:cs typeface="Calibri" pitchFamily="34" charset="-120"/>
              </a:rPr>
              <a:t>Queries and Insights</a:t>
            </a:r>
            <a:endParaRPr lang="en-US" sz="1100" dirty="0"/>
          </a:p>
          <a:p>
            <a:pPr marL="0" indent="0">
              <a:buNone/>
            </a:pPr>
            <a:endParaRPr lang="en-US" sz="1100" dirty="0"/>
          </a:p>
        </p:txBody>
      </p:sp>
      <p:sp>
        <p:nvSpPr>
          <p:cNvPr id="6" name="Shape 4"/>
          <p:cNvSpPr/>
          <p:nvPr/>
        </p:nvSpPr>
        <p:spPr>
          <a:xfrm>
            <a:off x="274320" y="603504"/>
            <a:ext cx="8595360" cy="530352"/>
          </a:xfrm>
          <a:prstGeom prst="roundRect">
            <a:avLst>
              <a:gd name="adj" fmla="val 13793"/>
            </a:avLst>
          </a:prstGeom>
          <a:solidFill>
            <a:srgbClr val="FFF5F5"/>
          </a:solidFill>
          <a:ln w="12700">
            <a:solidFill>
              <a:srgbClr val="E8E8E8"/>
            </a:solidFill>
            <a:prstDash val="solid"/>
          </a:ln>
        </p:spPr>
        <p:txBody>
          <a:bodyPr/>
          <a:lstStyle/>
          <a:p>
            <a:endParaRPr lang="en-IN"/>
          </a:p>
        </p:txBody>
      </p:sp>
      <p:sp>
        <p:nvSpPr>
          <p:cNvPr id="7" name="Text 5"/>
          <p:cNvSpPr/>
          <p:nvPr/>
        </p:nvSpPr>
        <p:spPr>
          <a:xfrm>
            <a:off x="384224" y="632196"/>
            <a:ext cx="8321040" cy="530352"/>
          </a:xfrm>
          <a:prstGeom prst="rect">
            <a:avLst/>
          </a:prstGeom>
          <a:noFill/>
          <a:ln/>
        </p:spPr>
        <p:txBody>
          <a:bodyPr wrap="square" rtlCol="0" anchor="ctr"/>
          <a:lstStyle/>
          <a:p>
            <a:pPr lvl="0" fontAlgn="base"/>
            <a:r>
              <a:rPr lang="en-US" sz="1300" b="1" dirty="0">
                <a:solidFill>
                  <a:srgbClr val="1A1A2E"/>
                </a:solidFill>
                <a:latin typeface="Calibri" pitchFamily="34" charset="0"/>
                <a:ea typeface="Calibri" pitchFamily="34" charset="-122"/>
                <a:cs typeface="Calibri" pitchFamily="34" charset="-120"/>
              </a:rPr>
              <a:t>❓  </a:t>
            </a:r>
            <a:r>
              <a:rPr lang="en-IN" sz="1200" b="1" dirty="0"/>
              <a:t>Write a query to return the email, first name, last name, &amp; Genre of all Rock Music listeners.</a:t>
            </a:r>
          </a:p>
          <a:p>
            <a:r>
              <a:rPr lang="en-IN" sz="1200" b="1" dirty="0"/>
              <a:t> Return your list ordered alphabetically by email starting with A </a:t>
            </a:r>
            <a:r>
              <a:rPr lang="en-US" sz="1200" b="1" dirty="0">
                <a:solidFill>
                  <a:srgbClr val="1A1A2E"/>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274320" y="1225296"/>
            <a:ext cx="1828800" cy="274320"/>
          </a:xfrm>
          <a:prstGeom prst="rect">
            <a:avLst/>
          </a:prstGeom>
          <a:noFill/>
          <a:ln/>
        </p:spPr>
        <p:txBody>
          <a:bodyPr wrap="square" rtlCol="0" anchor="ctr"/>
          <a:lstStyle/>
          <a:p>
            <a:r>
              <a:rPr lang="en-US" sz="1100" b="1" dirty="0">
                <a:solidFill>
                  <a:srgbClr val="CC0000"/>
                </a:solidFill>
                <a:latin typeface="Calibri" pitchFamily="34" charset="0"/>
                <a:ea typeface="Calibri" pitchFamily="34" charset="-122"/>
                <a:cs typeface="Calibri" pitchFamily="34" charset="-120"/>
              </a:rPr>
              <a:t>SQL Query :</a:t>
            </a:r>
            <a:endParaRPr lang="en-US" sz="1100" dirty="0"/>
          </a:p>
        </p:txBody>
      </p:sp>
      <p:sp>
        <p:nvSpPr>
          <p:cNvPr id="10" name="Text 8"/>
          <p:cNvSpPr/>
          <p:nvPr/>
        </p:nvSpPr>
        <p:spPr>
          <a:xfrm>
            <a:off x="411480" y="1536192"/>
            <a:ext cx="8321040" cy="1627632"/>
          </a:xfrm>
          <a:prstGeom prst="rect">
            <a:avLst/>
          </a:prstGeom>
          <a:noFill/>
          <a:ln/>
        </p:spPr>
        <p:txBody>
          <a:bodyPr wrap="square" rtlCol="0" anchor="t"/>
          <a:lstStyle/>
          <a:p>
            <a:pPr marL="0" indent="0">
              <a:buNone/>
            </a:pPr>
            <a:endParaRPr lang="en-US" sz="1000" dirty="0"/>
          </a:p>
        </p:txBody>
      </p:sp>
      <p:sp>
        <p:nvSpPr>
          <p:cNvPr id="11" name="Text 9"/>
          <p:cNvSpPr/>
          <p:nvPr/>
        </p:nvSpPr>
        <p:spPr>
          <a:xfrm>
            <a:off x="5166360" y="1330452"/>
            <a:ext cx="1828800" cy="256032"/>
          </a:xfrm>
          <a:prstGeom prst="rect">
            <a:avLst/>
          </a:prstGeom>
          <a:noFill/>
          <a:ln/>
        </p:spPr>
        <p:txBody>
          <a:bodyPr wrap="square" rtlCol="0" anchor="ctr"/>
          <a:lstStyle/>
          <a:p>
            <a:pPr marL="0" indent="0">
              <a:buNone/>
            </a:pPr>
            <a:r>
              <a:rPr lang="en-US" sz="1100" b="1" dirty="0">
                <a:solidFill>
                  <a:srgbClr val="CC0000"/>
                </a:solidFill>
                <a:latin typeface="Calibri" pitchFamily="34" charset="0"/>
                <a:ea typeface="Calibri" pitchFamily="34" charset="-122"/>
                <a:cs typeface="Calibri" pitchFamily="34" charset="-120"/>
              </a:rPr>
              <a:t>Result</a:t>
            </a:r>
            <a:endParaRPr lang="en-US" sz="1100" dirty="0"/>
          </a:p>
        </p:txBody>
      </p:sp>
      <p:sp>
        <p:nvSpPr>
          <p:cNvPr id="13" name="Text 11"/>
          <p:cNvSpPr/>
          <p:nvPr/>
        </p:nvSpPr>
        <p:spPr>
          <a:xfrm>
            <a:off x="596634" y="3717293"/>
            <a:ext cx="4754880" cy="1170432"/>
          </a:xfrm>
          <a:prstGeom prst="rect">
            <a:avLst/>
          </a:prstGeom>
          <a:noFill/>
          <a:ln/>
        </p:spPr>
        <p:txBody>
          <a:bodyPr wrap="square" rtlCol="0" anchor="t"/>
          <a:lstStyle/>
          <a:p>
            <a:pPr marL="0" indent="0">
              <a:buNone/>
            </a:pPr>
            <a:endParaRPr lang="en-US" sz="1000" i="1" dirty="0"/>
          </a:p>
        </p:txBody>
      </p:sp>
      <p:sp>
        <p:nvSpPr>
          <p:cNvPr id="14" name="Shape 12"/>
          <p:cNvSpPr/>
          <p:nvPr/>
        </p:nvSpPr>
        <p:spPr>
          <a:xfrm>
            <a:off x="4646333" y="3029038"/>
            <a:ext cx="4271341" cy="1490472"/>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a:p>
        </p:txBody>
      </p:sp>
      <p:sp>
        <p:nvSpPr>
          <p:cNvPr id="15" name="Text 13"/>
          <p:cNvSpPr/>
          <p:nvPr/>
        </p:nvSpPr>
        <p:spPr>
          <a:xfrm>
            <a:off x="5005397" y="3079330"/>
            <a:ext cx="3429000" cy="290234"/>
          </a:xfrm>
          <a:prstGeom prst="rect">
            <a:avLst/>
          </a:prstGeom>
          <a:noFill/>
          <a:ln/>
        </p:spPr>
        <p:txBody>
          <a:bodyPr wrap="square" rtlCol="0" anchor="ctr"/>
          <a:lstStyle/>
          <a:p>
            <a:pPr marL="0" indent="0" algn="ctr">
              <a:buNone/>
            </a:pPr>
            <a:r>
              <a:rPr lang="en-US" sz="1600" b="1" dirty="0">
                <a:solidFill>
                  <a:srgbClr val="CC0000"/>
                </a:solidFill>
                <a:latin typeface="Times New Roman" panose="02020603050405020304" pitchFamily="18" charset="0"/>
                <a:ea typeface="Calibri" pitchFamily="34" charset="-122"/>
                <a:cs typeface="Times New Roman" panose="02020603050405020304" pitchFamily="18" charset="0"/>
              </a:rPr>
              <a:t>💡 Insight</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4646333" y="3356105"/>
            <a:ext cx="4271340" cy="1133856"/>
          </a:xfrm>
          <a:prstGeom prst="rect">
            <a:avLst/>
          </a:prstGeom>
          <a:noFill/>
          <a:ln/>
        </p:spPr>
        <p:txBody>
          <a:bodyPr wrap="square" rtlCol="0" anchor="t"/>
          <a:lstStyle/>
          <a:p>
            <a:pPr lvl="0"/>
            <a:r>
              <a:rPr lang="en-IN" sz="1500" dirty="0"/>
              <a:t>Identifies customers who </a:t>
            </a:r>
            <a:r>
              <a:rPr lang="en-IN" sz="1500" b="1" dirty="0"/>
              <a:t>listen to Rock music</a:t>
            </a:r>
            <a:r>
              <a:rPr lang="en-IN" sz="1500" dirty="0"/>
              <a:t>. </a:t>
            </a:r>
          </a:p>
          <a:p>
            <a:pPr lvl="0"/>
            <a:r>
              <a:rPr lang="en-IN" sz="1500" dirty="0"/>
              <a:t>Helps understand </a:t>
            </a:r>
            <a:r>
              <a:rPr lang="en-IN" sz="1500" b="1" dirty="0"/>
              <a:t>genre preferences</a:t>
            </a:r>
            <a:r>
              <a:rPr lang="en-IN" sz="1500" dirty="0"/>
              <a:t> and supports targeted music recommendations or marketing.</a:t>
            </a:r>
          </a:p>
          <a:p>
            <a:pPr algn="just"/>
            <a:endParaRPr lang="en-US" sz="1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40A0086-9725-5813-DB81-50D61FD0237F}"/>
              </a:ext>
            </a:extLst>
          </p:cNvPr>
          <p:cNvSpPr txBox="1"/>
          <p:nvPr/>
        </p:nvSpPr>
        <p:spPr>
          <a:xfrm>
            <a:off x="274320" y="3481399"/>
            <a:ext cx="4001705" cy="1738938"/>
          </a:xfrm>
          <a:prstGeom prst="rect">
            <a:avLst/>
          </a:prstGeom>
          <a:noFill/>
        </p:spPr>
        <p:txBody>
          <a:bodyPr wrap="square">
            <a:spAutoFit/>
          </a:bodyPr>
          <a:lstStyle/>
          <a:p>
            <a:pPr lvl="0"/>
            <a:r>
              <a:rPr lang="en-US" sz="1600" b="1" u="sng" dirty="0">
                <a:solidFill>
                  <a:srgbClr val="CC0000"/>
                </a:solidFill>
                <a:latin typeface="Times New Roman" panose="02020603050405020304" pitchFamily="18" charset="0"/>
                <a:cs typeface="Times New Roman" panose="02020603050405020304" pitchFamily="18" charset="0"/>
              </a:rPr>
              <a:t>⚙ How This Query Works :</a:t>
            </a:r>
          </a:p>
          <a:p>
            <a:pPr lvl="0"/>
            <a:r>
              <a:rPr lang="en-IN" sz="1500" dirty="0"/>
              <a:t>Joins </a:t>
            </a:r>
            <a:r>
              <a:rPr lang="en-IN" sz="1500" b="1" dirty="0"/>
              <a:t>Customer, Invoice, </a:t>
            </a:r>
            <a:r>
              <a:rPr lang="en-IN" sz="1500" b="1" dirty="0" err="1"/>
              <a:t>InvoiceLine</a:t>
            </a:r>
            <a:r>
              <a:rPr lang="en-IN" sz="1500" b="1" dirty="0"/>
              <a:t>, Track, and Genre</a:t>
            </a:r>
            <a:r>
              <a:rPr lang="en-IN" sz="1500" dirty="0"/>
              <a:t> tables. </a:t>
            </a:r>
          </a:p>
          <a:p>
            <a:pPr lvl="0"/>
            <a:r>
              <a:rPr lang="en-IN" sz="1500" dirty="0"/>
              <a:t>Filters records where the genre is </a:t>
            </a:r>
            <a:r>
              <a:rPr lang="en-IN" sz="1500" b="1" dirty="0"/>
              <a:t>Rock</a:t>
            </a:r>
            <a:r>
              <a:rPr lang="en-IN" sz="1500" dirty="0"/>
              <a:t>. </a:t>
            </a:r>
          </a:p>
          <a:p>
            <a:pPr lvl="0"/>
            <a:r>
              <a:rPr lang="en-IN" sz="1500" dirty="0"/>
              <a:t>Uses DISTINCT to avoid duplicate customers. </a:t>
            </a:r>
          </a:p>
          <a:p>
            <a:pPr lvl="0"/>
            <a:r>
              <a:rPr lang="en-IN" sz="1500" dirty="0"/>
              <a:t>Sorts the results </a:t>
            </a:r>
            <a:r>
              <a:rPr lang="en-IN" sz="1500" b="1" dirty="0"/>
              <a:t>alphabetically by email</a:t>
            </a:r>
            <a:r>
              <a:rPr lang="en-IN" sz="1500" dirty="0"/>
              <a:t>.</a:t>
            </a:r>
          </a:p>
          <a:p>
            <a:pPr marL="0" indent="0" algn="just">
              <a:buNone/>
            </a:pPr>
            <a:endParaRPr lang="en-US" sz="1600" b="1" u="sng" dirty="0">
              <a:solidFill>
                <a:srgbClr val="CC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7FA8837-504C-489E-9314-F87D00EE917F}"/>
              </a:ext>
            </a:extLst>
          </p:cNvPr>
          <p:cNvPicPr>
            <a:picLocks noChangeAspect="1"/>
          </p:cNvPicPr>
          <p:nvPr/>
        </p:nvPicPr>
        <p:blipFill>
          <a:blip r:embed="rId3"/>
          <a:stretch>
            <a:fillRect/>
          </a:stretch>
        </p:blipFill>
        <p:spPr>
          <a:xfrm>
            <a:off x="205740" y="1501482"/>
            <a:ext cx="4440593" cy="2001019"/>
          </a:xfrm>
          <a:prstGeom prst="rect">
            <a:avLst/>
          </a:prstGeom>
        </p:spPr>
      </p:pic>
      <p:pic>
        <p:nvPicPr>
          <p:cNvPr id="17" name="Picture 16">
            <a:extLst>
              <a:ext uri="{FF2B5EF4-FFF2-40B4-BE49-F238E27FC236}">
                <a16:creationId xmlns:a16="http://schemas.microsoft.com/office/drawing/2014/main" id="{82574F70-BF15-5F67-65AA-543154B14F5D}"/>
              </a:ext>
            </a:extLst>
          </p:cNvPr>
          <p:cNvPicPr>
            <a:picLocks noChangeAspect="1"/>
          </p:cNvPicPr>
          <p:nvPr/>
        </p:nvPicPr>
        <p:blipFill>
          <a:blip r:embed="rId4"/>
          <a:stretch>
            <a:fillRect/>
          </a:stretch>
        </p:blipFill>
        <p:spPr>
          <a:xfrm>
            <a:off x="4800908" y="1579234"/>
            <a:ext cx="3777036" cy="13606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74320" y="164592"/>
            <a:ext cx="137160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 CASE 2.3</a:t>
            </a:r>
            <a:endParaRPr lang="en-US" sz="900" dirty="0"/>
          </a:p>
        </p:txBody>
      </p:sp>
      <p:sp>
        <p:nvSpPr>
          <p:cNvPr id="5" name="Text 3"/>
          <p:cNvSpPr/>
          <p:nvPr/>
        </p:nvSpPr>
        <p:spPr>
          <a:xfrm>
            <a:off x="133643" y="32231"/>
            <a:ext cx="704088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Queries and Insights</a:t>
            </a:r>
            <a:endParaRPr lang="en-US" sz="1100" dirty="0"/>
          </a:p>
        </p:txBody>
      </p:sp>
      <p:sp>
        <p:nvSpPr>
          <p:cNvPr id="6" name="Shape 4"/>
          <p:cNvSpPr/>
          <p:nvPr/>
        </p:nvSpPr>
        <p:spPr>
          <a:xfrm>
            <a:off x="203506" y="337522"/>
            <a:ext cx="8595360" cy="675558"/>
          </a:xfrm>
          <a:prstGeom prst="roundRect">
            <a:avLst>
              <a:gd name="adj" fmla="val 13793"/>
            </a:avLst>
          </a:prstGeom>
          <a:solidFill>
            <a:srgbClr val="FFF5F5"/>
          </a:solidFill>
          <a:ln w="12700">
            <a:solidFill>
              <a:srgbClr val="E8E8E8"/>
            </a:solidFill>
            <a:prstDash val="solid"/>
          </a:ln>
        </p:spPr>
        <p:txBody>
          <a:bodyPr/>
          <a:lstStyle/>
          <a:p>
            <a:endParaRPr lang="en-IN"/>
          </a:p>
        </p:txBody>
      </p:sp>
      <p:sp>
        <p:nvSpPr>
          <p:cNvPr id="7" name="Text 5"/>
          <p:cNvSpPr/>
          <p:nvPr/>
        </p:nvSpPr>
        <p:spPr>
          <a:xfrm>
            <a:off x="203506" y="329184"/>
            <a:ext cx="8321040" cy="621792"/>
          </a:xfrm>
          <a:prstGeom prst="rect">
            <a:avLst/>
          </a:prstGeom>
          <a:noFill/>
          <a:ln/>
        </p:spPr>
        <p:txBody>
          <a:bodyPr wrap="square" rtlCol="0" anchor="ctr"/>
          <a:lstStyle/>
          <a:p>
            <a:pPr lvl="0" fontAlgn="base"/>
            <a:r>
              <a:rPr lang="en-US" sz="1300" b="1" dirty="0">
                <a:solidFill>
                  <a:srgbClr val="1A1A2E"/>
                </a:solidFill>
                <a:latin typeface="Calibri" pitchFamily="34" charset="0"/>
                <a:ea typeface="Calibri" pitchFamily="34" charset="-122"/>
                <a:cs typeface="Calibri" pitchFamily="34" charset="-120"/>
              </a:rPr>
              <a:t>❓ </a:t>
            </a:r>
            <a:r>
              <a:rPr lang="en-IN" sz="1200" b="1" dirty="0"/>
              <a:t>We want to find out the most popular music Genre for each country. We determine the most</a:t>
            </a:r>
          </a:p>
          <a:p>
            <a:r>
              <a:rPr lang="en-IN" sz="1200" b="1" dirty="0"/>
              <a:t>popular genre as the genre with the highest amount of purchases. Write a query that returns each country along with the top Genre. For countries where the maximum number of purchases  is shared, return all Genres </a:t>
            </a:r>
            <a:r>
              <a:rPr lang="en-US" sz="1300" b="1" dirty="0">
                <a:solidFill>
                  <a:srgbClr val="1A1A2E"/>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213873" y="1028602"/>
            <a:ext cx="1828800" cy="274320"/>
          </a:xfrm>
          <a:prstGeom prst="rect">
            <a:avLst/>
          </a:prstGeom>
          <a:noFill/>
          <a:ln/>
        </p:spPr>
        <p:txBody>
          <a:bodyPr wrap="square" rtlCol="0" anchor="ctr"/>
          <a:lstStyle/>
          <a:p>
            <a:r>
              <a:rPr lang="en-US" sz="1100" b="1" dirty="0">
                <a:solidFill>
                  <a:srgbClr val="CC0000"/>
                </a:solidFill>
                <a:latin typeface="Calibri" pitchFamily="34" charset="0"/>
                <a:ea typeface="Calibri" pitchFamily="34" charset="-122"/>
                <a:cs typeface="Calibri" pitchFamily="34" charset="-120"/>
              </a:rPr>
              <a:t>SQL Query :</a:t>
            </a:r>
            <a:endParaRPr lang="en-US" sz="1100" dirty="0"/>
          </a:p>
        </p:txBody>
      </p:sp>
      <p:sp>
        <p:nvSpPr>
          <p:cNvPr id="10" name="Text 8"/>
          <p:cNvSpPr/>
          <p:nvPr/>
        </p:nvSpPr>
        <p:spPr>
          <a:xfrm>
            <a:off x="411480" y="1536192"/>
            <a:ext cx="8321040" cy="1627632"/>
          </a:xfrm>
          <a:prstGeom prst="rect">
            <a:avLst/>
          </a:prstGeom>
          <a:noFill/>
          <a:ln/>
        </p:spPr>
        <p:txBody>
          <a:bodyPr wrap="square" rtlCol="0" anchor="t"/>
          <a:lstStyle/>
          <a:p>
            <a:pPr marL="0" indent="0">
              <a:buNone/>
            </a:pPr>
            <a:endParaRPr lang="en-US" sz="1000" dirty="0"/>
          </a:p>
        </p:txBody>
      </p:sp>
      <p:sp>
        <p:nvSpPr>
          <p:cNvPr id="11" name="Text 9"/>
          <p:cNvSpPr/>
          <p:nvPr/>
        </p:nvSpPr>
        <p:spPr>
          <a:xfrm>
            <a:off x="5272527" y="1268053"/>
            <a:ext cx="1828800" cy="256032"/>
          </a:xfrm>
          <a:prstGeom prst="rect">
            <a:avLst/>
          </a:prstGeom>
          <a:noFill/>
          <a:ln/>
        </p:spPr>
        <p:txBody>
          <a:bodyPr wrap="square" rtlCol="0" anchor="ctr"/>
          <a:lstStyle/>
          <a:p>
            <a:pPr marL="0" indent="0">
              <a:buNone/>
            </a:pPr>
            <a:r>
              <a:rPr lang="en-US" sz="1100" b="1" dirty="0">
                <a:solidFill>
                  <a:srgbClr val="CC0000"/>
                </a:solidFill>
                <a:latin typeface="Calibri" pitchFamily="34" charset="0"/>
                <a:ea typeface="Calibri" pitchFamily="34" charset="-122"/>
                <a:cs typeface="Calibri" pitchFamily="34" charset="-120"/>
              </a:rPr>
              <a:t>Result</a:t>
            </a:r>
            <a:endParaRPr lang="en-US" sz="1100" dirty="0"/>
          </a:p>
        </p:txBody>
      </p:sp>
      <p:sp>
        <p:nvSpPr>
          <p:cNvPr id="13" name="Text 11"/>
          <p:cNvSpPr/>
          <p:nvPr/>
        </p:nvSpPr>
        <p:spPr>
          <a:xfrm>
            <a:off x="1874520" y="3439499"/>
            <a:ext cx="4754880" cy="1170432"/>
          </a:xfrm>
          <a:prstGeom prst="rect">
            <a:avLst/>
          </a:prstGeom>
          <a:noFill/>
          <a:ln/>
        </p:spPr>
        <p:txBody>
          <a:bodyPr wrap="square" rtlCol="0" anchor="t"/>
          <a:lstStyle/>
          <a:p>
            <a:pPr marL="0" indent="0">
              <a:buNone/>
            </a:pPr>
            <a:endParaRPr lang="en-US" sz="1000" dirty="0"/>
          </a:p>
        </p:txBody>
      </p:sp>
      <p:sp>
        <p:nvSpPr>
          <p:cNvPr id="14" name="Shape 12"/>
          <p:cNvSpPr/>
          <p:nvPr/>
        </p:nvSpPr>
        <p:spPr>
          <a:xfrm>
            <a:off x="4720445" y="3189947"/>
            <a:ext cx="4066465" cy="1490472"/>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endParaRPr lang="en-IN" dirty="0"/>
          </a:p>
        </p:txBody>
      </p:sp>
      <p:sp>
        <p:nvSpPr>
          <p:cNvPr id="15" name="Text 13"/>
          <p:cNvSpPr/>
          <p:nvPr/>
        </p:nvSpPr>
        <p:spPr>
          <a:xfrm>
            <a:off x="4217276" y="3073395"/>
            <a:ext cx="4426678" cy="286338"/>
          </a:xfrm>
          <a:prstGeom prst="rect">
            <a:avLst/>
          </a:prstGeom>
          <a:noFill/>
          <a:ln/>
        </p:spPr>
        <p:txBody>
          <a:bodyPr wrap="square" rtlCol="0" anchor="ctr"/>
          <a:lstStyle/>
          <a:p>
            <a:pPr marL="0" indent="0" algn="ctr">
              <a:buNone/>
            </a:pPr>
            <a:endParaRPr lang="en-US" sz="1400" b="1" dirty="0">
              <a:solidFill>
                <a:srgbClr val="CC0000"/>
              </a:solidFill>
              <a:latin typeface="Times New Roman" panose="02020603050405020304" pitchFamily="18" charset="0"/>
              <a:ea typeface="Calibri" pitchFamily="34" charset="-122"/>
              <a:cs typeface="Times New Roman" panose="02020603050405020304" pitchFamily="18" charset="0"/>
            </a:endParaRPr>
          </a:p>
          <a:p>
            <a:pPr marL="0" indent="0" algn="ctr">
              <a:buNone/>
            </a:pPr>
            <a:r>
              <a:rPr lang="en-US" sz="1400" b="1" dirty="0">
                <a:solidFill>
                  <a:srgbClr val="CC0000"/>
                </a:solidFill>
                <a:latin typeface="Times New Roman" panose="02020603050405020304" pitchFamily="18" charset="0"/>
                <a:ea typeface="Calibri" pitchFamily="34" charset="-122"/>
                <a:cs typeface="Times New Roman" panose="02020603050405020304" pitchFamily="18" charset="0"/>
              </a:rPr>
              <a:t>💡 Insight</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4865370" y="3396974"/>
            <a:ext cx="4008892" cy="1133856"/>
          </a:xfrm>
          <a:prstGeom prst="rect">
            <a:avLst/>
          </a:prstGeom>
          <a:noFill/>
          <a:ln/>
        </p:spPr>
        <p:txBody>
          <a:bodyPr wrap="square" rtlCol="0" anchor="t"/>
          <a:lstStyle/>
          <a:p>
            <a:pPr lvl="0"/>
            <a:r>
              <a:rPr lang="en-IN" sz="1500" dirty="0"/>
              <a:t>Identifies the </a:t>
            </a:r>
            <a:r>
              <a:rPr lang="en-IN" sz="1500" b="1" dirty="0"/>
              <a:t>most popular music genre in each country</a:t>
            </a:r>
            <a:r>
              <a:rPr lang="en-IN" sz="1500" dirty="0"/>
              <a:t>. </a:t>
            </a:r>
          </a:p>
          <a:p>
            <a:pPr lvl="0"/>
            <a:r>
              <a:rPr lang="en-IN" sz="1500" dirty="0"/>
              <a:t>Helps understand </a:t>
            </a:r>
            <a:r>
              <a:rPr lang="en-IN" sz="1500" b="1" dirty="0"/>
              <a:t>regional music preferences</a:t>
            </a:r>
            <a:r>
              <a:rPr lang="en-IN" sz="1500" dirty="0"/>
              <a:t> and supports targeted recommendations and marketing</a:t>
            </a:r>
            <a:r>
              <a:rPr lang="en-IN" sz="1400" dirty="0"/>
              <a:t>.</a:t>
            </a:r>
          </a:p>
          <a:p>
            <a:endParaRPr lang="en-US" sz="1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7D8C012-0F52-D5C9-3704-8B4DC0163462}"/>
              </a:ext>
            </a:extLst>
          </p:cNvPr>
          <p:cNvSpPr txBox="1"/>
          <p:nvPr/>
        </p:nvSpPr>
        <p:spPr>
          <a:xfrm>
            <a:off x="203506" y="4024715"/>
            <a:ext cx="4397791" cy="1200329"/>
          </a:xfrm>
          <a:prstGeom prst="rect">
            <a:avLst/>
          </a:prstGeom>
          <a:noFill/>
        </p:spPr>
        <p:txBody>
          <a:bodyPr wrap="square">
            <a:spAutoFit/>
          </a:bodyPr>
          <a:lstStyle/>
          <a:p>
            <a:pPr marL="0" indent="0" algn="just">
              <a:buNone/>
            </a:pPr>
            <a:r>
              <a:rPr lang="en-US" sz="1400" b="1" u="sng" dirty="0">
                <a:solidFill>
                  <a:srgbClr val="CC0000"/>
                </a:solidFill>
                <a:latin typeface="Times New Roman" panose="02020603050405020304" pitchFamily="18" charset="0"/>
                <a:cs typeface="Times New Roman" panose="02020603050405020304" pitchFamily="18" charset="0"/>
              </a:rPr>
              <a:t>⚙ How This Query Works :</a:t>
            </a:r>
          </a:p>
          <a:p>
            <a:pPr lvl="0"/>
            <a:r>
              <a:rPr lang="en-IN" sz="1100" dirty="0"/>
              <a:t>Calculates total purchases for each </a:t>
            </a:r>
            <a:r>
              <a:rPr lang="en-IN" sz="1100" b="1" dirty="0"/>
              <a:t>country and genre</a:t>
            </a:r>
            <a:r>
              <a:rPr lang="en-IN" sz="1100" dirty="0"/>
              <a:t> using SUM(). Uses RANK() to rank genres within each country based on purchases. RANK() = 1 selects the </a:t>
            </a:r>
            <a:r>
              <a:rPr lang="en-IN" sz="1100" b="1" dirty="0"/>
              <a:t>most purchased genre(s)</a:t>
            </a:r>
            <a:r>
              <a:rPr lang="en-IN" sz="1100" dirty="0"/>
              <a:t>. Includes all genres when there is a </a:t>
            </a:r>
            <a:r>
              <a:rPr lang="en-IN" sz="1100" b="1" dirty="0"/>
              <a:t>tie</a:t>
            </a:r>
            <a:r>
              <a:rPr lang="en-IN" sz="1100" dirty="0"/>
              <a:t>.</a:t>
            </a:r>
          </a:p>
          <a:p>
            <a:pPr marL="0" indent="0" algn="just">
              <a:buNone/>
            </a:pPr>
            <a:endParaRPr lang="en-US" sz="1400" b="0" dirty="0">
              <a:solidFill>
                <a:srgbClr val="444444"/>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FCB53C2-D65A-BBD1-DAB5-DA7CFF4363F6}"/>
              </a:ext>
            </a:extLst>
          </p:cNvPr>
          <p:cNvPicPr>
            <a:picLocks noChangeAspect="1"/>
          </p:cNvPicPr>
          <p:nvPr/>
        </p:nvPicPr>
        <p:blipFill>
          <a:blip r:embed="rId3"/>
          <a:stretch>
            <a:fillRect/>
          </a:stretch>
        </p:blipFill>
        <p:spPr>
          <a:xfrm>
            <a:off x="203506" y="1254963"/>
            <a:ext cx="4483174" cy="2776786"/>
          </a:xfrm>
          <a:prstGeom prst="rect">
            <a:avLst/>
          </a:prstGeom>
        </p:spPr>
      </p:pic>
      <p:pic>
        <p:nvPicPr>
          <p:cNvPr id="17" name="Picture 16">
            <a:extLst>
              <a:ext uri="{FF2B5EF4-FFF2-40B4-BE49-F238E27FC236}">
                <a16:creationId xmlns:a16="http://schemas.microsoft.com/office/drawing/2014/main" id="{64EAD659-2302-1618-B721-58FE1AF50C47}"/>
              </a:ext>
            </a:extLst>
          </p:cNvPr>
          <p:cNvPicPr>
            <a:picLocks noChangeAspect="1"/>
          </p:cNvPicPr>
          <p:nvPr/>
        </p:nvPicPr>
        <p:blipFill>
          <a:blip r:embed="rId4"/>
          <a:stretch>
            <a:fillRect/>
          </a:stretch>
        </p:blipFill>
        <p:spPr>
          <a:xfrm>
            <a:off x="4865370" y="1489836"/>
            <a:ext cx="3867150" cy="151396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1ABA-9BB4-7E37-5F46-24C1225150C8}"/>
              </a:ext>
            </a:extLst>
          </p:cNvPr>
          <p:cNvSpPr>
            <a:spLocks noGrp="1"/>
          </p:cNvSpPr>
          <p:nvPr>
            <p:ph type="title"/>
          </p:nvPr>
        </p:nvSpPr>
        <p:spPr>
          <a:xfrm>
            <a:off x="567264" y="472549"/>
            <a:ext cx="7886700" cy="809368"/>
          </a:xfrm>
        </p:spPr>
        <p:txBody>
          <a:bodyPr>
            <a:normAutofit fontScale="90000"/>
          </a:bodyPr>
          <a:lstStyle/>
          <a:p>
            <a:r>
              <a:rPr lang="en-US" sz="2800" b="1" dirty="0">
                <a:solidFill>
                  <a:srgbClr val="CC0000"/>
                </a:solidFill>
                <a:latin typeface="Times New Roman" panose="02020603050405020304" pitchFamily="18" charset="0"/>
                <a:cs typeface="Times New Roman" panose="02020603050405020304" pitchFamily="18" charset="0"/>
              </a:rPr>
              <a:t>⚙ RECOMMENDATIONS:</a:t>
            </a:r>
            <a:br>
              <a:rPr lang="en-IN" sz="2800" dirty="0"/>
            </a:br>
            <a:endParaRPr lang="en-IN" sz="2800" b="1" dirty="0">
              <a:solidFill>
                <a:srgbClr val="C00000"/>
              </a:solidFill>
            </a:endParaRPr>
          </a:p>
        </p:txBody>
      </p:sp>
      <p:sp>
        <p:nvSpPr>
          <p:cNvPr id="4" name="Shape 12">
            <a:extLst>
              <a:ext uri="{FF2B5EF4-FFF2-40B4-BE49-F238E27FC236}">
                <a16:creationId xmlns:a16="http://schemas.microsoft.com/office/drawing/2014/main" id="{2AE5ED7E-7F3E-FB36-64BD-A06F2C297A46}"/>
              </a:ext>
            </a:extLst>
          </p:cNvPr>
          <p:cNvSpPr/>
          <p:nvPr/>
        </p:nvSpPr>
        <p:spPr>
          <a:xfrm>
            <a:off x="567264" y="1083213"/>
            <a:ext cx="8009472" cy="2778370"/>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lnSpc>
                <a:spcPct val="150000"/>
              </a:lnSpc>
              <a:buFont typeface="Arial" panose="020B0604020202020204" pitchFamily="34" charset="0"/>
              <a:buChar char="•"/>
            </a:pPr>
            <a:r>
              <a:rPr lang="en-US" sz="1600" dirty="0"/>
              <a:t>Improve sales by focusing on popular genres and best-selling tracks.</a:t>
            </a:r>
          </a:p>
          <a:p>
            <a:pPr marL="285750" indent="-285750">
              <a:lnSpc>
                <a:spcPct val="150000"/>
              </a:lnSpc>
              <a:buFont typeface="Arial" panose="020B0604020202020204" pitchFamily="34" charset="0"/>
              <a:buChar char="•"/>
            </a:pPr>
            <a:r>
              <a:rPr lang="en-US" sz="1600" dirty="0"/>
              <a:t>Enhance customer loyalty through personalized offers.</a:t>
            </a:r>
          </a:p>
          <a:p>
            <a:pPr marL="285750" indent="-285750">
              <a:lnSpc>
                <a:spcPct val="150000"/>
              </a:lnSpc>
              <a:buFont typeface="Arial" panose="020B0604020202020204" pitchFamily="34" charset="0"/>
              <a:buChar char="•"/>
            </a:pPr>
            <a:r>
              <a:rPr lang="en-US" sz="1600" dirty="0"/>
              <a:t>Optimize pricing based on sales performance.</a:t>
            </a:r>
          </a:p>
          <a:p>
            <a:pPr marL="285750" indent="-285750">
              <a:lnSpc>
                <a:spcPct val="150000"/>
              </a:lnSpc>
              <a:buFont typeface="Arial" panose="020B0604020202020204" pitchFamily="34" charset="0"/>
              <a:buChar char="•"/>
            </a:pPr>
            <a:r>
              <a:rPr lang="en-US" sz="1600" dirty="0"/>
              <a:t>Expand marketing efforts in high-revenue regions.</a:t>
            </a:r>
          </a:p>
          <a:p>
            <a:pPr marL="285750" indent="-285750">
              <a:lnSpc>
                <a:spcPct val="150000"/>
              </a:lnSpc>
              <a:buFont typeface="Arial" panose="020B0604020202020204" pitchFamily="34" charset="0"/>
              <a:buChar char="•"/>
            </a:pPr>
            <a:r>
              <a:rPr lang="en-US" sz="1600" dirty="0"/>
              <a:t>Integrate SQL with Power BI for interactive dashboards.</a:t>
            </a:r>
          </a:p>
          <a:p>
            <a:pPr marL="285750" indent="-285750">
              <a:lnSpc>
                <a:spcPct val="150000"/>
              </a:lnSpc>
              <a:buFont typeface="Arial" panose="020B0604020202020204" pitchFamily="34" charset="0"/>
              <a:buChar char="•"/>
            </a:pPr>
            <a:r>
              <a:rPr lang="en-US" sz="1600" dirty="0"/>
              <a:t>Implement predictive analytics for sales forecasting and customer recommendations.</a:t>
            </a:r>
            <a:endParaRPr lang="en-IN" sz="1600" dirty="0"/>
          </a:p>
        </p:txBody>
      </p:sp>
    </p:spTree>
    <p:extLst>
      <p:ext uri="{BB962C8B-B14F-4D97-AF65-F5344CB8AC3E}">
        <p14:creationId xmlns:p14="http://schemas.microsoft.com/office/powerpoint/2010/main" val="3695697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2">
            <a:extLst>
              <a:ext uri="{FF2B5EF4-FFF2-40B4-BE49-F238E27FC236}">
                <a16:creationId xmlns:a16="http://schemas.microsoft.com/office/drawing/2014/main" id="{DDE21DA9-422B-C47D-A2E9-8D9CE1A5F023}"/>
              </a:ext>
            </a:extLst>
          </p:cNvPr>
          <p:cNvSpPr/>
          <p:nvPr/>
        </p:nvSpPr>
        <p:spPr>
          <a:xfrm>
            <a:off x="405485" y="893298"/>
            <a:ext cx="8009472" cy="3770142"/>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marL="285750" indent="-285750">
              <a:lnSpc>
                <a:spcPct val="150000"/>
              </a:lnSpc>
              <a:buFont typeface="Arial" panose="020B0604020202020204" pitchFamily="34" charset="0"/>
              <a:buChar char="•"/>
            </a:pPr>
            <a:r>
              <a:rPr lang="en-IN" sz="1600" b="1" dirty="0">
                <a:solidFill>
                  <a:srgbClr val="C00000"/>
                </a:solidFill>
              </a:rPr>
              <a:t>Data Exploration: </a:t>
            </a:r>
            <a:r>
              <a:rPr lang="en-IN" sz="1600" dirty="0"/>
              <a:t>Analysed relational datasets to understand customer behaviour, sales patterns, and music preferences.</a:t>
            </a:r>
          </a:p>
          <a:p>
            <a:pPr marL="285750" indent="-285750">
              <a:lnSpc>
                <a:spcPct val="150000"/>
              </a:lnSpc>
              <a:buFont typeface="Arial" panose="020B0604020202020204" pitchFamily="34" charset="0"/>
              <a:buChar char="•"/>
            </a:pPr>
            <a:r>
              <a:rPr lang="en-IN" sz="1600" dirty="0"/>
              <a:t> </a:t>
            </a:r>
            <a:r>
              <a:rPr lang="en-IN" sz="1600" b="1" dirty="0">
                <a:solidFill>
                  <a:srgbClr val="C00000"/>
                </a:solidFill>
              </a:rPr>
              <a:t>SQL Analysis: </a:t>
            </a:r>
            <a:r>
              <a:rPr lang="en-IN" sz="1600" dirty="0"/>
              <a:t>Applied joins, aggregations, subqueries, and filtering to extract meaningful insights.</a:t>
            </a:r>
          </a:p>
          <a:p>
            <a:pPr marL="285750" indent="-285750">
              <a:lnSpc>
                <a:spcPct val="150000"/>
              </a:lnSpc>
              <a:buFont typeface="Arial" panose="020B0604020202020204" pitchFamily="34" charset="0"/>
              <a:buChar char="•"/>
            </a:pPr>
            <a:r>
              <a:rPr lang="en-IN" sz="1600" dirty="0"/>
              <a:t> </a:t>
            </a:r>
            <a:r>
              <a:rPr lang="en-IN" sz="1600" b="1" dirty="0">
                <a:solidFill>
                  <a:srgbClr val="C00000"/>
                </a:solidFill>
              </a:rPr>
              <a:t>Trend Identification: </a:t>
            </a:r>
            <a:r>
              <a:rPr lang="en-IN" sz="1600" dirty="0"/>
              <a:t>Identified top customers, popular genres, best-selling tracks, and revenue patterns. </a:t>
            </a:r>
          </a:p>
          <a:p>
            <a:pPr marL="285750" indent="-285750">
              <a:lnSpc>
                <a:spcPct val="150000"/>
              </a:lnSpc>
              <a:buFont typeface="Arial" panose="020B0604020202020204" pitchFamily="34" charset="0"/>
              <a:buChar char="•"/>
            </a:pPr>
            <a:r>
              <a:rPr lang="en-IN" sz="1600" b="1" dirty="0">
                <a:solidFill>
                  <a:srgbClr val="C00000"/>
                </a:solidFill>
              </a:rPr>
              <a:t>Business Insights: </a:t>
            </a:r>
            <a:r>
              <a:rPr lang="en-IN" sz="1600" dirty="0"/>
              <a:t>Evaluated purchasing trends and sales performance to identify growth opportunities.</a:t>
            </a:r>
          </a:p>
        </p:txBody>
      </p:sp>
      <p:sp>
        <p:nvSpPr>
          <p:cNvPr id="7" name="TextBox 6">
            <a:extLst>
              <a:ext uri="{FF2B5EF4-FFF2-40B4-BE49-F238E27FC236}">
                <a16:creationId xmlns:a16="http://schemas.microsoft.com/office/drawing/2014/main" id="{E6122E7A-8728-E5F2-2948-5A4CF6B06666}"/>
              </a:ext>
            </a:extLst>
          </p:cNvPr>
          <p:cNvSpPr txBox="1"/>
          <p:nvPr/>
        </p:nvSpPr>
        <p:spPr>
          <a:xfrm>
            <a:off x="330590" y="178006"/>
            <a:ext cx="4572000" cy="461665"/>
          </a:xfrm>
          <a:prstGeom prst="rect">
            <a:avLst/>
          </a:prstGeom>
          <a:noFill/>
        </p:spPr>
        <p:txBody>
          <a:bodyPr wrap="square">
            <a:spAutoFit/>
          </a:bodyPr>
          <a:lstStyle/>
          <a:p>
            <a:r>
              <a:rPr lang="en-US" sz="2400" b="1" dirty="0">
                <a:solidFill>
                  <a:srgbClr val="CC0000"/>
                </a:solidFill>
                <a:latin typeface="Times New Roman" panose="02020603050405020304" pitchFamily="18" charset="0"/>
                <a:cs typeface="Times New Roman" panose="02020603050405020304" pitchFamily="18" charset="0"/>
              </a:rPr>
              <a:t> ⚙ </a:t>
            </a:r>
            <a:r>
              <a:rPr lang="en-IN" sz="2400" b="1" dirty="0">
                <a:solidFill>
                  <a:srgbClr val="C00000"/>
                </a:solidFill>
                <a:latin typeface="Times New Roman" panose="02020603050405020304" pitchFamily="18" charset="0"/>
                <a:cs typeface="Times New Roman" panose="02020603050405020304" pitchFamily="18" charset="0"/>
              </a:rPr>
              <a:t>CONCLUSION</a:t>
            </a:r>
            <a:r>
              <a:rPr lang="en-IN" sz="2400" b="1" dirty="0">
                <a:solidFill>
                  <a:srgbClr val="C00000"/>
                </a:solidFill>
              </a:rPr>
              <a:t>:</a:t>
            </a:r>
            <a:endParaRPr lang="en-IN" sz="1600" dirty="0"/>
          </a:p>
        </p:txBody>
      </p:sp>
    </p:spTree>
    <p:extLst>
      <p:ext uri="{BB962C8B-B14F-4D97-AF65-F5344CB8AC3E}">
        <p14:creationId xmlns:p14="http://schemas.microsoft.com/office/powerpoint/2010/main" val="2825490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B4D0-0D77-5C05-487C-7E34CA5E7EE0}"/>
              </a:ext>
            </a:extLst>
          </p:cNvPr>
          <p:cNvSpPr>
            <a:spLocks noGrp="1"/>
          </p:cNvSpPr>
          <p:nvPr>
            <p:ph type="title"/>
          </p:nvPr>
        </p:nvSpPr>
        <p:spPr>
          <a:xfrm>
            <a:off x="255856" y="0"/>
            <a:ext cx="7886700" cy="994172"/>
          </a:xfrm>
        </p:spPr>
        <p:txBody>
          <a:bodyPr>
            <a:normAutofit/>
          </a:bodyPr>
          <a:lstStyle/>
          <a:p>
            <a:br>
              <a:rPr lang="en-IN" sz="2800" dirty="0"/>
            </a:br>
            <a:endParaRPr lang="en-IN" sz="2800" b="1" dirty="0">
              <a:solidFill>
                <a:srgbClr val="C00000"/>
              </a:solidFill>
            </a:endParaRPr>
          </a:p>
        </p:txBody>
      </p:sp>
      <p:sp>
        <p:nvSpPr>
          <p:cNvPr id="4" name="Shape 12">
            <a:extLst>
              <a:ext uri="{FF2B5EF4-FFF2-40B4-BE49-F238E27FC236}">
                <a16:creationId xmlns:a16="http://schemas.microsoft.com/office/drawing/2014/main" id="{57222D4F-B4F5-C840-5B39-67890790E17F}"/>
              </a:ext>
            </a:extLst>
          </p:cNvPr>
          <p:cNvSpPr/>
          <p:nvPr/>
        </p:nvSpPr>
        <p:spPr>
          <a:xfrm>
            <a:off x="255856" y="819541"/>
            <a:ext cx="8632288" cy="3829832"/>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pPr>
              <a:lnSpc>
                <a:spcPct val="150000"/>
              </a:lnSpc>
            </a:pPr>
            <a:r>
              <a:rPr lang="en-US" sz="1600" b="1" dirty="0">
                <a:solidFill>
                  <a:srgbClr val="C00000"/>
                </a:solidFill>
              </a:rPr>
              <a:t>01.Table Relationships &amp; Joins : </a:t>
            </a:r>
            <a:r>
              <a:rPr lang="en-US" sz="1600" dirty="0"/>
              <a:t>Understood table relationships and applied appropriate SQL joins to retrieve meaningful data from multiple tables.</a:t>
            </a:r>
          </a:p>
          <a:p>
            <a:pPr>
              <a:lnSpc>
                <a:spcPct val="150000"/>
              </a:lnSpc>
            </a:pPr>
            <a:r>
              <a:rPr lang="en-US" sz="1600" b="1" dirty="0">
                <a:solidFill>
                  <a:srgbClr val="C00000"/>
                </a:solidFill>
              </a:rPr>
              <a:t>02. Data Consistency : </a:t>
            </a:r>
            <a:r>
              <a:rPr lang="en-US" sz="1600" dirty="0"/>
              <a:t>Maintained data integrity by understanding primary key and foreign key constraints and ensuring consistency across related tables.</a:t>
            </a:r>
          </a:p>
          <a:p>
            <a:pPr>
              <a:lnSpc>
                <a:spcPct val="150000"/>
              </a:lnSpc>
            </a:pPr>
            <a:r>
              <a:rPr lang="en-US" sz="1600" b="1" dirty="0">
                <a:solidFill>
                  <a:srgbClr val="C00000"/>
                </a:solidFill>
              </a:rPr>
              <a:t>03. Aggregation &amp; Business Metrics : </a:t>
            </a:r>
            <a:r>
              <a:rPr lang="en-US" sz="1600" dirty="0"/>
              <a:t>Used aggregate functions (SUM, COUNT, AVG) to calculate revenue, identify top customers, and analyze popular music genres.</a:t>
            </a:r>
          </a:p>
          <a:p>
            <a:pPr>
              <a:lnSpc>
                <a:spcPct val="150000"/>
              </a:lnSpc>
            </a:pPr>
            <a:r>
              <a:rPr lang="en-US" sz="1600" b="1" dirty="0">
                <a:solidFill>
                  <a:srgbClr val="C00000"/>
                </a:solidFill>
              </a:rPr>
              <a:t>04. Data Handling : </a:t>
            </a:r>
            <a:r>
              <a:rPr lang="en-US" sz="1600" dirty="0"/>
              <a:t>Worked with date formats and extracted meaningful information from raw data fields to perform accurate SQL analysis.</a:t>
            </a:r>
          </a:p>
          <a:p>
            <a:pPr>
              <a:lnSpc>
                <a:spcPct val="150000"/>
              </a:lnSpc>
            </a:pPr>
            <a:r>
              <a:rPr lang="en-US" sz="1600" b="1" dirty="0">
                <a:solidFill>
                  <a:srgbClr val="C00000"/>
                </a:solidFill>
              </a:rPr>
              <a:t>05. Query Optimization : </a:t>
            </a:r>
            <a:r>
              <a:rPr lang="en-US" sz="1600" dirty="0"/>
              <a:t>Improved query performance through appropriate filtering, efficient joins, and indexing concepts</a:t>
            </a:r>
            <a:r>
              <a:rPr lang="en-US" dirty="0"/>
              <a:t>.</a:t>
            </a:r>
            <a:endParaRPr lang="en-IN" dirty="0"/>
          </a:p>
        </p:txBody>
      </p:sp>
      <p:sp>
        <p:nvSpPr>
          <p:cNvPr id="6" name="TextBox 5">
            <a:extLst>
              <a:ext uri="{FF2B5EF4-FFF2-40B4-BE49-F238E27FC236}">
                <a16:creationId xmlns:a16="http://schemas.microsoft.com/office/drawing/2014/main" id="{22A49CE0-5228-BCAE-E129-32B06DA99C2B}"/>
              </a:ext>
            </a:extLst>
          </p:cNvPr>
          <p:cNvSpPr txBox="1"/>
          <p:nvPr/>
        </p:nvSpPr>
        <p:spPr>
          <a:xfrm>
            <a:off x="255855" y="148161"/>
            <a:ext cx="7664256" cy="523220"/>
          </a:xfrm>
          <a:prstGeom prst="rect">
            <a:avLst/>
          </a:prstGeom>
          <a:noFill/>
        </p:spPr>
        <p:txBody>
          <a:bodyPr wrap="square">
            <a:spAutoFit/>
          </a:bodyPr>
          <a:lstStyle/>
          <a:p>
            <a:r>
              <a:rPr lang="en-US" sz="2800" b="1" dirty="0">
                <a:solidFill>
                  <a:srgbClr val="CC0000"/>
                </a:solidFill>
                <a:latin typeface="Times New Roman" panose="02020603050405020304" pitchFamily="18" charset="0"/>
                <a:cs typeface="Times New Roman" panose="02020603050405020304" pitchFamily="18" charset="0"/>
              </a:rPr>
              <a:t>⚙ CHALLENGES AND EXPERIENCES:</a:t>
            </a:r>
            <a:endParaRPr lang="en-IN" dirty="0"/>
          </a:p>
        </p:txBody>
      </p:sp>
    </p:spTree>
    <p:extLst>
      <p:ext uri="{BB962C8B-B14F-4D97-AF65-F5344CB8AC3E}">
        <p14:creationId xmlns:p14="http://schemas.microsoft.com/office/powerpoint/2010/main" val="1221349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6759-4E33-FEAC-BA23-D1B69D3F23BC}"/>
              </a:ext>
            </a:extLst>
          </p:cNvPr>
          <p:cNvSpPr>
            <a:spLocks noGrp="1"/>
          </p:cNvSpPr>
          <p:nvPr>
            <p:ph type="title"/>
          </p:nvPr>
        </p:nvSpPr>
        <p:spPr>
          <a:xfrm>
            <a:off x="523142" y="273844"/>
            <a:ext cx="7886700" cy="994172"/>
          </a:xfrm>
        </p:spPr>
        <p:txBody>
          <a:bodyPr>
            <a:normAutofit fontScale="90000"/>
          </a:bodyPr>
          <a:lstStyle/>
          <a:p>
            <a:pPr algn="ctr"/>
            <a:br>
              <a:rPr lang="en-US" dirty="0">
                <a:solidFill>
                  <a:srgbClr val="C00000"/>
                </a:solidFill>
              </a:rPr>
            </a:br>
            <a:br>
              <a:rPr lang="en-US" dirty="0">
                <a:solidFill>
                  <a:srgbClr val="C00000"/>
                </a:solidFill>
              </a:rPr>
            </a:br>
            <a:br>
              <a:rPr lang="en-US" dirty="0">
                <a:solidFill>
                  <a:srgbClr val="C00000"/>
                </a:solidFill>
              </a:rPr>
            </a:br>
            <a:br>
              <a:rPr lang="en-US" dirty="0">
                <a:solidFill>
                  <a:srgbClr val="C00000"/>
                </a:solidFill>
              </a:rPr>
            </a:b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5" name="Shape 12">
            <a:extLst>
              <a:ext uri="{FF2B5EF4-FFF2-40B4-BE49-F238E27FC236}">
                <a16:creationId xmlns:a16="http://schemas.microsoft.com/office/drawing/2014/main" id="{F877493C-F62D-50DF-D888-E217B5C18029}"/>
              </a:ext>
            </a:extLst>
          </p:cNvPr>
          <p:cNvSpPr/>
          <p:nvPr/>
        </p:nvSpPr>
        <p:spPr>
          <a:xfrm>
            <a:off x="0" y="0"/>
            <a:ext cx="9144000" cy="5143500"/>
          </a:xfrm>
          <a:prstGeom prst="roundRect">
            <a:avLst>
              <a:gd name="adj" fmla="val 4908"/>
            </a:avLst>
          </a:prstGeom>
          <a:solidFill>
            <a:srgbClr val="FFF0F0"/>
          </a:solidFill>
          <a:ln w="12700">
            <a:solidFill>
              <a:srgbClr val="E8E8E8"/>
            </a:solidFill>
            <a:prstDash val="solid"/>
          </a:ln>
          <a:effectLst>
            <a:outerShdw blurRad="101600" dist="38100" dir="2700000" algn="bl" rotWithShape="0">
              <a:srgbClr val="000000">
                <a:alpha val="12000"/>
              </a:srgbClr>
            </a:outerShdw>
          </a:effectLst>
        </p:spPr>
        <p:txBody>
          <a:bodyPr/>
          <a:lstStyle/>
          <a:p>
            <a:br>
              <a:rPr lang="en-US" dirty="0">
                <a:solidFill>
                  <a:srgbClr val="C00000"/>
                </a:solidFill>
              </a:rPr>
            </a:br>
            <a:r>
              <a:rPr lang="en-US" sz="2400" dirty="0">
                <a:solidFill>
                  <a:srgbClr val="C00000"/>
                </a:solidFill>
              </a:rPr>
              <a:t>                                                 </a:t>
            </a:r>
          </a:p>
          <a:p>
            <a:endParaRPr lang="en-US" sz="2400" b="1" dirty="0">
              <a:solidFill>
                <a:srgbClr val="C00000"/>
              </a:solidFill>
              <a:latin typeface="Times New Roman" panose="02020603050405020304" pitchFamily="18" charset="0"/>
              <a:cs typeface="Times New Roman" panose="02020603050405020304" pitchFamily="18" charset="0"/>
            </a:endParaRPr>
          </a:p>
          <a:p>
            <a:endParaRPr lang="en-US" sz="2400" b="1" dirty="0">
              <a:solidFill>
                <a:srgbClr val="C00000"/>
              </a:solidFill>
              <a:latin typeface="Times New Roman" panose="02020603050405020304" pitchFamily="18" charset="0"/>
              <a:cs typeface="Times New Roman" panose="02020603050405020304" pitchFamily="18" charset="0"/>
            </a:endParaRPr>
          </a:p>
          <a:p>
            <a:r>
              <a:rPr lang="en-US" sz="2400" b="1" dirty="0">
                <a:solidFill>
                  <a:srgbClr val="C00000"/>
                </a:solidFill>
                <a:latin typeface="Times New Roman" panose="02020603050405020304" pitchFamily="18" charset="0"/>
                <a:cs typeface="Times New Roman" panose="02020603050405020304" pitchFamily="18" charset="0"/>
              </a:rPr>
              <a:t>                                           </a:t>
            </a:r>
            <a:r>
              <a:rPr lang="en-US" sz="6600" b="1" dirty="0">
                <a:solidFill>
                  <a:srgbClr val="C00000"/>
                </a:solidFill>
                <a:latin typeface="Times New Roman" panose="02020603050405020304" pitchFamily="18" charset="0"/>
                <a:cs typeface="Times New Roman" panose="02020603050405020304" pitchFamily="18" charset="0"/>
              </a:rPr>
              <a:t>Q &amp; A</a:t>
            </a:r>
          </a:p>
          <a:p>
            <a:endParaRPr lang="en-IN" dirty="0"/>
          </a:p>
        </p:txBody>
      </p:sp>
      <p:sp>
        <p:nvSpPr>
          <p:cNvPr id="7" name="TextBox 6">
            <a:extLst>
              <a:ext uri="{FF2B5EF4-FFF2-40B4-BE49-F238E27FC236}">
                <a16:creationId xmlns:a16="http://schemas.microsoft.com/office/drawing/2014/main" id="{5AB3AF80-6D67-1EEC-20AC-22F382AE1968}"/>
              </a:ext>
            </a:extLst>
          </p:cNvPr>
          <p:cNvSpPr txBox="1"/>
          <p:nvPr/>
        </p:nvSpPr>
        <p:spPr>
          <a:xfrm>
            <a:off x="3291840" y="2152956"/>
            <a:ext cx="3390314" cy="646331"/>
          </a:xfrm>
          <a:prstGeom prst="rect">
            <a:avLst/>
          </a:prstGeom>
          <a:noFill/>
        </p:spPr>
        <p:txBody>
          <a:bodyPr wrap="square" rtlCol="0">
            <a:spAutoFit/>
          </a:bodyPr>
          <a:lstStyle/>
          <a:p>
            <a:r>
              <a:rPr lang="en-US" b="1" dirty="0"/>
              <a:t>          </a:t>
            </a:r>
          </a:p>
          <a:p>
            <a:r>
              <a:rPr lang="en-US" b="1" dirty="0"/>
              <a:t>      Questions  &amp; Answers</a:t>
            </a:r>
            <a:endParaRPr lang="en-IN" b="1" dirty="0"/>
          </a:p>
        </p:txBody>
      </p:sp>
      <p:sp>
        <p:nvSpPr>
          <p:cNvPr id="8" name="TextBox 7">
            <a:extLst>
              <a:ext uri="{FF2B5EF4-FFF2-40B4-BE49-F238E27FC236}">
                <a16:creationId xmlns:a16="http://schemas.microsoft.com/office/drawing/2014/main" id="{4F0A26F0-E7F8-6A77-8AF3-2BE20D7DC920}"/>
              </a:ext>
            </a:extLst>
          </p:cNvPr>
          <p:cNvSpPr txBox="1"/>
          <p:nvPr/>
        </p:nvSpPr>
        <p:spPr>
          <a:xfrm>
            <a:off x="1153551" y="2799287"/>
            <a:ext cx="9088743" cy="369332"/>
          </a:xfrm>
          <a:prstGeom prst="rect">
            <a:avLst/>
          </a:prstGeom>
          <a:noFill/>
        </p:spPr>
        <p:txBody>
          <a:bodyPr wrap="square" rtlCol="0">
            <a:spAutoFit/>
          </a:bodyPr>
          <a:lstStyle/>
          <a:p>
            <a:r>
              <a:rPr lang="en-US" dirty="0"/>
              <a:t>         </a:t>
            </a:r>
            <a:r>
              <a:rPr lang="en-US" sz="1600" dirty="0"/>
              <a:t>Feel free to ask anything about the Music Store Data Analysis SQL Project</a:t>
            </a:r>
            <a:endParaRPr lang="en-IN" dirty="0"/>
          </a:p>
        </p:txBody>
      </p:sp>
    </p:spTree>
    <p:extLst>
      <p:ext uri="{BB962C8B-B14F-4D97-AF65-F5344CB8AC3E}">
        <p14:creationId xmlns:p14="http://schemas.microsoft.com/office/powerpoint/2010/main" val="3449276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flipH="1">
            <a:off x="-1" y="2171700"/>
            <a:ext cx="4955721" cy="517449"/>
          </a:xfrm>
          <a:prstGeom prst="rect">
            <a:avLst/>
          </a:prstGeom>
        </p:spPr>
        <p:txBody>
          <a:bodyPr vert="horz" wrap="square" lIns="0" tIns="9525" rIns="0" bIns="0" rtlCol="0">
            <a:spAutoFit/>
          </a:bodyPr>
          <a:lstStyle/>
          <a:p>
            <a:pPr marL="9525" marR="3810">
              <a:spcBef>
                <a:spcPts val="75"/>
              </a:spcBef>
            </a:pPr>
            <a:r>
              <a:rPr spc="240" dirty="0"/>
              <a:t>THANK </a:t>
            </a:r>
            <a:r>
              <a:rPr spc="248" dirty="0"/>
              <a:t>YOU</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328451-473D-791D-6C30-B679E58D2685}"/>
              </a:ext>
            </a:extLst>
          </p:cNvPr>
          <p:cNvPicPr>
            <a:picLocks noChangeAspect="1"/>
          </p:cNvPicPr>
          <p:nvPr/>
        </p:nvPicPr>
        <p:blipFill>
          <a:blip r:embed="rId2"/>
          <a:stretch>
            <a:fillRect/>
          </a:stretch>
        </p:blipFill>
        <p:spPr>
          <a:xfrm>
            <a:off x="203506" y="646176"/>
            <a:ext cx="7867598" cy="4059936"/>
          </a:xfrm>
          <a:prstGeom prst="rect">
            <a:avLst/>
          </a:prstGeom>
        </p:spPr>
      </p:pic>
    </p:spTree>
    <p:extLst>
      <p:ext uri="{BB962C8B-B14F-4D97-AF65-F5344CB8AC3E}">
        <p14:creationId xmlns:p14="http://schemas.microsoft.com/office/powerpoint/2010/main" val="3282516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2254</TotalTime>
  <Words>1567</Words>
  <Application>Microsoft Office PowerPoint</Application>
  <PresentationFormat>On-screen Show (16:9)</PresentationFormat>
  <Paragraphs>188</Paragraphs>
  <Slides>23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Cambria</vt:lpstr>
      <vt:lpstr>Lato Black</vt:lpstr>
      <vt:lpstr>Palatino Linotype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 PROJECT  OBJECTIVES:   </vt:lpstr>
      <vt:lpstr>i. DATA DESCRIPTION: </vt:lpstr>
      <vt:lpstr>PowerPoint Presentation</vt:lpstr>
      <vt:lpstr>PowerPoint Presentation</vt:lpstr>
      <vt:lpstr> iii. Key Relationships : </vt:lpstr>
      <vt:lpstr>PowerPoint Presentation</vt:lpstr>
      <vt:lpstr>PowerPoint Presentation</vt:lpstr>
      <vt:lpstr>PowerPoint Presentation</vt:lpstr>
      <vt:lpstr>PowerPoint Presentation</vt:lpstr>
      <vt:lpstr>PowerPoint Presentation</vt:lpstr>
      <vt:lpstr>⚙ RECOMMENDATIONS: </vt:lpstr>
      <vt:lpstr>PowerPoint Presentation</vt:lpstr>
      <vt:lpstr> </vt:lpstr>
      <vt:lpstr>    </vt:lpstr>
      <vt:lpstr>THANK YOU</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Grocery Store Management - SQL Project</dc:title>
  <dc:subject>PptxGenJS Presentation</dc:subject>
  <dc:creator>PptxGenJS</dc:creator>
  <cp:lastModifiedBy>Srivani Pittala</cp:lastModifiedBy>
  <cp:revision>11</cp:revision>
  <dcterms:created xsi:type="dcterms:W3CDTF">2026-06-25T09:02:27Z</dcterms:created>
  <dcterms:modified xsi:type="dcterms:W3CDTF">2026-10-03T11:00:00Z</dcterms:modified>
</cp:coreProperties>
</file>